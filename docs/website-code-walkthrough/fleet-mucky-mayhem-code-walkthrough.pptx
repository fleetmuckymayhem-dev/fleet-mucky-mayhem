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4499ed48ad4e81" /><Relationship Type="http://schemas.openxmlformats.org/officeDocument/2006/relationships/extended-properties" Target="/docProps/app.xml" Id="R3ba2840106ca422f" /><Relationship Type="http://schemas.openxmlformats.org/officeDocument/2006/relationships/officeDocument" Target="/ppt/presentation.xml" Id="R8ee78295498a4413" /></Relationships>
</file>

<file path=ppt/presentation.xml><?xml version="1.0" encoding="utf-8"?>
<p:presentation xmlns:p="http://schemas.openxmlformats.org/presentationml/2006/main">
  <p:sldMasterIdLst>
    <p:sldMasterId xmlns:r="http://schemas.openxmlformats.org/officeDocument/2006/relationships" id="2147483648" r:id="R36a26ff1595d406f"/>
  </p:sldMasterIdLst>
  <p:notesMasterIdLst>
    <p:notesMasterId xmlns:r="http://schemas.openxmlformats.org/officeDocument/2006/relationships" r:id="Rfd58e7d2d2264d11"/>
  </p:notesMasterIdLst>
  <p:sldIdLst>
    <p:sldId xmlns:r="http://schemas.openxmlformats.org/officeDocument/2006/relationships" id="256" r:id="R5a245affbff14760"/>
    <p:sldId xmlns:r="http://schemas.openxmlformats.org/officeDocument/2006/relationships" id="257" r:id="R8b3ba54854e44e9f"/>
    <p:sldId xmlns:r="http://schemas.openxmlformats.org/officeDocument/2006/relationships" id="258" r:id="R07c742b8c4b64a38"/>
    <p:sldId xmlns:r="http://schemas.openxmlformats.org/officeDocument/2006/relationships" id="259" r:id="R95bed8f30a7441ce"/>
    <p:sldId xmlns:r="http://schemas.openxmlformats.org/officeDocument/2006/relationships" id="260" r:id="R6fa847d5f4584634"/>
    <p:sldId xmlns:r="http://schemas.openxmlformats.org/officeDocument/2006/relationships" id="261" r:id="R5d174aa0017d48c8"/>
    <p:sldId xmlns:r="http://schemas.openxmlformats.org/officeDocument/2006/relationships" id="262" r:id="Rd9691704be584447"/>
    <p:sldId xmlns:r="http://schemas.openxmlformats.org/officeDocument/2006/relationships" id="263" r:id="R5bbcf4781baa47f5"/>
    <p:sldId xmlns:r="http://schemas.openxmlformats.org/officeDocument/2006/relationships" id="264" r:id="R5a2cb1eef3b44998"/>
    <p:sldId xmlns:r="http://schemas.openxmlformats.org/officeDocument/2006/relationships" id="265" r:id="Rc06d2e45d90f414b"/>
    <p:sldId xmlns:r="http://schemas.openxmlformats.org/officeDocument/2006/relationships" id="266" r:id="R7ca27fb04f0942d4"/>
    <p:sldId xmlns:r="http://schemas.openxmlformats.org/officeDocument/2006/relationships" id="267" r:id="R9ba8233c6cf4444d"/>
    <p:sldId xmlns:r="http://schemas.openxmlformats.org/officeDocument/2006/relationships" id="268" r:id="Re74a29be814443a4"/>
    <p:sldId xmlns:r="http://schemas.openxmlformats.org/officeDocument/2006/relationships" id="269" r:id="R2c1e018a9b32478a"/>
    <p:sldId xmlns:r="http://schemas.openxmlformats.org/officeDocument/2006/relationships" id="270" r:id="R6337581bd18c477e"/>
    <p:sldId xmlns:r="http://schemas.openxmlformats.org/officeDocument/2006/relationships" id="271" r:id="Re77afc92d22a4ab8"/>
    <p:sldId xmlns:r="http://schemas.openxmlformats.org/officeDocument/2006/relationships" id="272" r:id="Rc45bd6b705124d8d"/>
    <p:sldId xmlns:r="http://schemas.openxmlformats.org/officeDocument/2006/relationships" id="273" r:id="Raf47d78dbed04d7a"/>
    <p:sldId xmlns:r="http://schemas.openxmlformats.org/officeDocument/2006/relationships" id="274" r:id="R8c7ba1dec29a478c"/>
    <p:sldId xmlns:r="http://schemas.openxmlformats.org/officeDocument/2006/relationships" id="275" r:id="R6bd4de68d6c9491b"/>
    <p:sldId xmlns:r="http://schemas.openxmlformats.org/officeDocument/2006/relationships" id="276" r:id="Rd05c3acde4c847d8"/>
    <p:sldId xmlns:r="http://schemas.openxmlformats.org/officeDocument/2006/relationships" id="277" r:id="R12a79803743d4d2b"/>
    <p:sldId xmlns:r="http://schemas.openxmlformats.org/officeDocument/2006/relationships" id="278" r:id="R95023c75156c486e"/>
    <p:sldId xmlns:r="http://schemas.openxmlformats.org/officeDocument/2006/relationships" id="279" r:id="R5e7e641f79db4fd1"/>
    <p:sldId xmlns:r="http://schemas.openxmlformats.org/officeDocument/2006/relationships" id="280" r:id="Rfd321ff3c1a64c9a"/>
    <p:sldId xmlns:r="http://schemas.openxmlformats.org/officeDocument/2006/relationships" id="281" r:id="R1a1cb7140ecc47b4"/>
    <p:sldId xmlns:r="http://schemas.openxmlformats.org/officeDocument/2006/relationships" id="282" r:id="Rd162edd7cec34a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dc247667dd4c24" /><Relationship Type="http://schemas.openxmlformats.org/officeDocument/2006/relationships/slideMaster" Target="/ppt/slideMasters/slideMaster1.xml" Id="R36a26ff1595d406f" /><Relationship Type="http://schemas.openxmlformats.org/officeDocument/2006/relationships/notesMaster" Target="/ppt/notesMasters/notesMaster1.xml" Id="Rfd58e7d2d2264d11" /><Relationship Type="http://schemas.openxmlformats.org/officeDocument/2006/relationships/presProps" Target="/ppt/presProps.xml" Id="R30661db04c6148a4" /><Relationship Type="http://schemas.openxmlformats.org/officeDocument/2006/relationships/tableStyles" Target="/ppt/tableStyles.xml" Id="Racc3218a77ae4986" /><Relationship Type="http://schemas.openxmlformats.org/officeDocument/2006/relationships/slide" Target="/ppt/slides/slide1.xml" Id="R5a245affbff14760" /><Relationship Type="http://schemas.openxmlformats.org/officeDocument/2006/relationships/slide" Target="/ppt/slides/slide2.xml" Id="R8b3ba54854e44e9f" /><Relationship Type="http://schemas.openxmlformats.org/officeDocument/2006/relationships/slide" Target="/ppt/slides/slide3.xml" Id="R07c742b8c4b64a38" /><Relationship Type="http://schemas.openxmlformats.org/officeDocument/2006/relationships/slide" Target="/ppt/slides/slide4.xml" Id="R95bed8f30a7441ce" /><Relationship Type="http://schemas.openxmlformats.org/officeDocument/2006/relationships/slide" Target="/ppt/slides/slide5.xml" Id="R6fa847d5f4584634" /><Relationship Type="http://schemas.openxmlformats.org/officeDocument/2006/relationships/slide" Target="/ppt/slides/slide6.xml" Id="R5d174aa0017d48c8" /><Relationship Type="http://schemas.openxmlformats.org/officeDocument/2006/relationships/slide" Target="/ppt/slides/slide7.xml" Id="Rd9691704be584447" /><Relationship Type="http://schemas.openxmlformats.org/officeDocument/2006/relationships/slide" Target="/ppt/slides/slide8.xml" Id="R5bbcf4781baa47f5" /><Relationship Type="http://schemas.openxmlformats.org/officeDocument/2006/relationships/slide" Target="/ppt/slides/slide9.xml" Id="R5a2cb1eef3b44998" /><Relationship Type="http://schemas.openxmlformats.org/officeDocument/2006/relationships/slide" Target="/ppt/slides/slide10.xml" Id="Rc06d2e45d90f414b" /><Relationship Type="http://schemas.openxmlformats.org/officeDocument/2006/relationships/slide" Target="/ppt/slides/slide11.xml" Id="R7ca27fb04f0942d4" /><Relationship Type="http://schemas.openxmlformats.org/officeDocument/2006/relationships/slide" Target="/ppt/slides/slide12.xml" Id="R9ba8233c6cf4444d" /><Relationship Type="http://schemas.openxmlformats.org/officeDocument/2006/relationships/slide" Target="/ppt/slides/slide13.xml" Id="Re74a29be814443a4" /><Relationship Type="http://schemas.openxmlformats.org/officeDocument/2006/relationships/slide" Target="/ppt/slides/slide14.xml" Id="R2c1e018a9b32478a" /><Relationship Type="http://schemas.openxmlformats.org/officeDocument/2006/relationships/slide" Target="/ppt/slides/slide15.xml" Id="R6337581bd18c477e" /><Relationship Type="http://schemas.openxmlformats.org/officeDocument/2006/relationships/slide" Target="/ppt/slides/slide16.xml" Id="Re77afc92d22a4ab8" /><Relationship Type="http://schemas.openxmlformats.org/officeDocument/2006/relationships/slide" Target="/ppt/slides/slide17.xml" Id="Rc45bd6b705124d8d" /><Relationship Type="http://schemas.openxmlformats.org/officeDocument/2006/relationships/slide" Target="/ppt/slides/slide18.xml" Id="Raf47d78dbed04d7a" /><Relationship Type="http://schemas.openxmlformats.org/officeDocument/2006/relationships/slide" Target="/ppt/slides/slide19.xml" Id="R8c7ba1dec29a478c" /><Relationship Type="http://schemas.openxmlformats.org/officeDocument/2006/relationships/slide" Target="/ppt/slides/slide20.xml" Id="R6bd4de68d6c9491b" /><Relationship Type="http://schemas.openxmlformats.org/officeDocument/2006/relationships/slide" Target="/ppt/slides/slide21.xml" Id="Rd05c3acde4c847d8" /><Relationship Type="http://schemas.openxmlformats.org/officeDocument/2006/relationships/slide" Target="/ppt/slides/slide22.xml" Id="R12a79803743d4d2b" /><Relationship Type="http://schemas.openxmlformats.org/officeDocument/2006/relationships/slide" Target="/ppt/slides/slide23.xml" Id="R95023c75156c486e" /><Relationship Type="http://schemas.openxmlformats.org/officeDocument/2006/relationships/slide" Target="/ppt/slides/slide24.xml" Id="R5e7e641f79db4fd1" /><Relationship Type="http://schemas.openxmlformats.org/officeDocument/2006/relationships/slide" Target="/ppt/slides/slide25.xml" Id="Rfd321ff3c1a64c9a" /><Relationship Type="http://schemas.openxmlformats.org/officeDocument/2006/relationships/slide" Target="/ppt/slides/slide26.xml" Id="R1a1cb7140ecc47b4" /><Relationship Type="http://schemas.openxmlformats.org/officeDocument/2006/relationships/slide" Target="/ppt/slides/slide27.xml" Id="Rd162edd7cec34a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8136e0f92b46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46360e0498407c" /><Relationship Type="http://schemas.openxmlformats.org/officeDocument/2006/relationships/notesMaster" Target="/ppt/notesMasters/notesMaster1.xml" Id="Rf17c90b473a846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a6ddbaed734b23" /><Relationship Type="http://schemas.openxmlformats.org/officeDocument/2006/relationships/notesMaster" Target="/ppt/notesMasters/notesMaster1.xml" Id="Ra7d6cda7b9c14e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1fa735ebb348da" /><Relationship Type="http://schemas.openxmlformats.org/officeDocument/2006/relationships/notesMaster" Target="/ppt/notesMasters/notesMaster1.xml" Id="R58d4443b4c6641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e387d364aa421b" /><Relationship Type="http://schemas.openxmlformats.org/officeDocument/2006/relationships/notesMaster" Target="/ppt/notesMasters/notesMaster1.xml" Id="Ra1e6c8cb86814f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51f5bc39d34e79" /><Relationship Type="http://schemas.openxmlformats.org/officeDocument/2006/relationships/notesMaster" Target="/ppt/notesMasters/notesMaster1.xml" Id="Re3bc08a56b0f45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d7afd9c038407b" /><Relationship Type="http://schemas.openxmlformats.org/officeDocument/2006/relationships/notesMaster" Target="/ppt/notesMasters/notesMaster1.xml" Id="R932c206f567a4c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d2280ff6314ba2" /><Relationship Type="http://schemas.openxmlformats.org/officeDocument/2006/relationships/notesMaster" Target="/ppt/notesMasters/notesMaster1.xml" Id="R6d86b894e13543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c54203438e4ab3" /><Relationship Type="http://schemas.openxmlformats.org/officeDocument/2006/relationships/notesMaster" Target="/ppt/notesMasters/notesMaster1.xml" Id="Rb31f0fcefb4d43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830e7270a94c4f" /><Relationship Type="http://schemas.openxmlformats.org/officeDocument/2006/relationships/notesMaster" Target="/ppt/notesMasters/notesMaster1.xml" Id="Re41f13db979d4b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670281f0614b8d" /><Relationship Type="http://schemas.openxmlformats.org/officeDocument/2006/relationships/notesMaster" Target="/ppt/notesMasters/notesMaster1.xml" Id="R7908f7e8e4104c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a09a1f49d84e0c" /><Relationship Type="http://schemas.openxmlformats.org/officeDocument/2006/relationships/notesMaster" Target="/ppt/notesMasters/notesMaster1.xml" Id="R94d782a05fa744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bb96da65e54063" /><Relationship Type="http://schemas.openxmlformats.org/officeDocument/2006/relationships/notesMaster" Target="/ppt/notesMasters/notesMaster1.xml" Id="R44d967fdba784b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a342148e754b95" /><Relationship Type="http://schemas.openxmlformats.org/officeDocument/2006/relationships/notesMaster" Target="/ppt/notesMasters/notesMaster1.xml" Id="R6fea3906fb9c46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3009d1fd9440f9" /><Relationship Type="http://schemas.openxmlformats.org/officeDocument/2006/relationships/notesMaster" Target="/ppt/notesMasters/notesMaster1.xml" Id="Rf685762bd1e541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b16763b5064dee" /><Relationship Type="http://schemas.openxmlformats.org/officeDocument/2006/relationships/notesMaster" Target="/ppt/notesMasters/notesMaster1.xml" Id="R026d75b7214c4a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0630ae82aa46c7" /><Relationship Type="http://schemas.openxmlformats.org/officeDocument/2006/relationships/notesMaster" Target="/ppt/notesMasters/notesMaster1.xml" Id="Ra3191f37565647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178f51ec0c490e" /><Relationship Type="http://schemas.openxmlformats.org/officeDocument/2006/relationships/notesMaster" Target="/ppt/notesMasters/notesMaster1.xml" Id="R52b2c1ec4bc84b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0c88ea23af48f0" /><Relationship Type="http://schemas.openxmlformats.org/officeDocument/2006/relationships/notesMaster" Target="/ppt/notesMasters/notesMaster1.xml" Id="Rb814c7910c8745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6012d367c64ab3" /><Relationship Type="http://schemas.openxmlformats.org/officeDocument/2006/relationships/notesMaster" Target="/ppt/notesMasters/notesMaster1.xml" Id="R4e169152079e44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766428f2a24bd6" /><Relationship Type="http://schemas.openxmlformats.org/officeDocument/2006/relationships/notesMaster" Target="/ppt/notesMasters/notesMaster1.xml" Id="Rbf3e7bcccd9946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0db6e3ec204dcb" /><Relationship Type="http://schemas.openxmlformats.org/officeDocument/2006/relationships/notesMaster" Target="/ppt/notesMasters/notesMaster1.xml" Id="R4ca07c82a6f648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8f2dd93e6643b3" /><Relationship Type="http://schemas.openxmlformats.org/officeDocument/2006/relationships/notesMaster" Target="/ppt/notesMasters/notesMaster1.xml" Id="R868faab21abf439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1bebfba4124d87" /><Relationship Type="http://schemas.openxmlformats.org/officeDocument/2006/relationships/notesMaster" Target="/ppt/notesMasters/notesMaster1.xml" Id="Radba288d64e24d0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7259f47ff14f1a" /><Relationship Type="http://schemas.openxmlformats.org/officeDocument/2006/relationships/notesMaster" Target="/ppt/notesMasters/notesMaster1.xml" Id="R9504dcf679754bf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74485d4aa845ad" /><Relationship Type="http://schemas.openxmlformats.org/officeDocument/2006/relationships/notesMaster" Target="/ppt/notesMasters/notesMaster1.xml" Id="R7d51b3a87c994b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eaa6dcda7041d7" /><Relationship Type="http://schemas.openxmlformats.org/officeDocument/2006/relationships/notesMaster" Target="/ppt/notesMasters/notesMaster1.xml" Id="R75fc01132c90455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02efa9821a94d6a" /><Relationship Type="http://schemas.openxmlformats.org/officeDocument/2006/relationships/notesMaster" Target="/ppt/notesMasters/notesMaster1.xml" Id="R2b8d2ea1d2f145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00:00–05:00 (5 minutes).</a:t>
            </a:r>
          </a:p>
          <a:p xmlns:a="http://schemas.openxmlformats.org/drawingml/2006/main">
            <a:r>
              <a:t>Welcome the developer and explain that no web experience is assumed. Use 'beginner’s guide' with the client. The goal is to recognise familiar patterns, find the right file, and make a small change with support. Explain that it is normal to look things up and that professional developers do too. Ask what programming or editing experience they already have. Keep build, publishing and deployment for a separate session.</a:t>
            </a:r>
          </a:p>
          <a:p xmlns:a="http://schemas.openxmlformats.org/drawingml/2006/main">
            <a:r>
              <a:t>PREPARATION: Have the Astro project open in an editor and an already-working preview ready. Use the preview for demonstrations. Do not change client content as part of the lesson.</a:t>
            </a:r>
          </a:p>
          <a:p xmlns:a="http://schemas.openxmlformats.org/drawingml/2006/main">
            <a:r>
              <a:t/>
            </a:r>
          </a:p>
          <a:p xmlns:a="http://schemas.openxmlformats.org/drawingml/2006/main">
            <a:r>
              <a:t>SOURCE FILES (paths inside P:\bootstraprefactor\astro-prototype):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05:00–08:00 (3 minutes).</a:t>
            </a:r>
          </a:p>
          <a:p xmlns:a="http://schemas.openxmlformats.org/drawingml/2006/main">
            <a:r>
              <a:t>Show the working preview, then the editor, and name each. Scroll the page and point out the navigation, About Us, Ride Diary and Photos. Explain that a page can contain many sections. Clicking About Us moves within this page rather than opening a separate About page. An editor changes the saved source; the browser displays the resulting page. Do not discuss how the site is built or published. CHECK: Ask the learner to point to the browser and then to the editor. Expected answer: browser shows the site, editor changes its source.</a:t>
            </a:r>
          </a:p>
          <a:p xmlns:a="http://schemas.openxmlformats.org/drawingml/2006/main">
            <a:r>
              <a:t/>
            </a:r>
          </a:p>
          <a:p xmlns:a="http://schemas.openxmlformats.org/drawingml/2006/main">
            <a:r>
              <a:t>SOURCE FILES (paths inside P:\bootstraprefactor\astro-prototype):</a:t>
            </a:r>
          </a:p>
          <a:p xmlns:a="http://schemas.openxmlformats.org/drawingml/2006/main">
            <a:r>
              <a:t>src/pages/index.astro</a:t>
            </a:r>
          </a:p>
          <a:p xmlns:a="http://schemas.openxmlformats.org/drawingml/2006/main">
            <a:r>
              <a:t>src/components/Navigation.astro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08:00–11:00 (3 minutes).</a:t>
            </a:r>
          </a:p>
          <a:p xmlns:a="http://schemas.openxmlformats.org/drawingml/2006/main">
            <a:r>
              <a:t>Use the Contact Us section as the shared example. HTML says there is a heading and a link. CSS makes the heading yellow and italic. JavaScript helps navigation and interactive controls respond. JSON supplies repeated information elsewhere, such as longer rides. Mention that SCSS is the stylesheet format used in this project and TypeScript is JavaScript with extra descriptions that help catch mistakes. Keep those distinctions light until later slides. CHECK: Which kind of code would you look at for a colour change? CSS/SCSS. For a ride distance? JSON.</a:t>
            </a:r>
          </a:p>
          <a:p xmlns:a="http://schemas.openxmlformats.org/drawingml/2006/main">
            <a:r>
              <a:t/>
            </a:r>
          </a:p>
          <a:p xmlns:a="http://schemas.openxmlformats.org/drawingml/2006/main">
            <a:r>
              <a:t>SOURCE FILES (paths inside P:\bootstraprefactor\astro-prototype):</a:t>
            </a:r>
          </a:p>
          <a:p xmlns:a="http://schemas.openxmlformats.org/drawingml/2006/main">
            <a:r>
              <a:t>src/components/ContactUs.astro</a:t>
            </a:r>
          </a:p>
          <a:p xmlns:a="http://schemas.openxmlformats.org/drawingml/2006/main">
            <a:r>
              <a:t>src/scss/styles.scss</a:t>
            </a:r>
          </a:p>
          <a:p xmlns:a="http://schemas.openxmlformats.org/drawingml/2006/main">
            <a:r>
              <a:t>src/scripts/site.ts</a:t>
            </a:r>
          </a:p>
          <a:p xmlns:a="http://schemas.openxmlformats.org/drawingml/2006/main">
            <a:r>
              <a:t>public/data/longer-rides.json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11:00–13:00 (2 minutes).</a:t>
            </a:r>
          </a:p>
          <a:p xmlns:a="http://schemas.openxmlformats.org/drawingml/2006/main">
            <a:r>
              <a:t>Read the line out loud from left to right. Explain that a tag is a label in angle brackets and that the slash marks the end. The opening and closing heading tags surround the text. Attributes are named details inside the opening tag; class is one example. The quotes surround the attribute value. brand-text is a project style; display-2 is a Bootstrap style. Do not explain CSS implementation yet. Ask the learner to point only to the part they would edit to rename the heading. Expected answer: the words Contact Us between the tags.</a:t>
            </a:r>
          </a:p>
          <a:p xmlns:a="http://schemas.openxmlformats.org/drawingml/2006/main">
            <a:r>
              <a:t/>
            </a:r>
          </a:p>
          <a:p xmlns:a="http://schemas.openxmlformats.org/drawingml/2006/main">
            <a:r>
              <a:t>SOURCE FILES (paths inside P:\bootstraprefactor\astro-prototype):</a:t>
            </a:r>
          </a:p>
          <a:p xmlns:a="http://schemas.openxmlformats.org/drawingml/2006/main">
            <a:r>
              <a:t>src/components/ContactUs.astro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13:00–15:00 (2 minutes).</a:t>
            </a:r>
          </a:p>
          <a:p xmlns:a="http://schemas.openxmlformats.org/drawingml/2006/main">
            <a:r>
              <a:t>Explain that a file extension is the part after the final dot. .astro files often look mostly like HTML. Some also have a preparation section between --- lines. .ts files add type information to JavaScript; the learner can first read the variable and function names without understanding every symbol. JSON is data, not instructions that execute. Images are separate files that the page points to. CHECK: If the request is to change a photo album URL, which extension is likely? .json. Avoid presenting these as universal rules for every project: this slide describes this repository.</a:t>
            </a:r>
          </a:p>
          <a:p xmlns:a="http://schemas.openxmlformats.org/drawingml/2006/main">
            <a:r>
              <a:t/>
            </a:r>
          </a:p>
          <a:p xmlns:a="http://schemas.openxmlformats.org/drawingml/2006/main">
            <a:r>
              <a:t>SOURCE FILES (paths inside P:\bootstraprefactor\astro-prototype):</a:t>
            </a:r>
          </a:p>
          <a:p xmlns:a="http://schemas.openxmlformats.org/drawingml/2006/main">
            <a:r>
              <a:t>src/pages/index.astro</a:t>
            </a:r>
          </a:p>
          <a:p xmlns:a="http://schemas.openxmlformats.org/drawingml/2006/main">
            <a:r>
              <a:t>src/scss/styles.scss</a:t>
            </a:r>
          </a:p>
          <a:p xmlns:a="http://schemas.openxmlformats.org/drawingml/2006/main">
            <a:r>
              <a:t>src/scripts/site.ts</a:t>
            </a:r>
          </a:p>
          <a:p xmlns:a="http://schemas.openxmlformats.org/drawingml/2006/main">
            <a:r>
              <a:t>public/data/photos.json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15:00–18:00 (3 minutes).</a:t>
            </a:r>
          </a:p>
          <a:p xmlns:a="http://schemas.openxmlformats.org/drawingml/2006/main">
            <a:r>
              <a:t>Open this folder tree in the editor and expand only the folders on screen. src means source. A component is a named piece of a page; lib holds reusable helper code. Explain that this workspace also contains the original fleet-mucky-mayhem project, and astro-prototype/baseline is a historical comparison copy. The lesson uses astro-prototype/src and astro-prototype/public. Generated folders such as dist, .astro and node_modules are not the source to edit for content changes. Ask the learner to find components and public/data themselves.</a:t>
            </a:r>
          </a:p>
          <a:p xmlns:a="http://schemas.openxmlformats.org/drawingml/2006/main">
            <a:r>
              <a:t/>
            </a:r>
          </a:p>
          <a:p xmlns:a="http://schemas.openxmlformats.org/drawingml/2006/main">
            <a:r>
              <a:t>SOURCE FILES (paths inside P:\bootstraprefactor\astro-prototype):</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18:00–21:00 (3 minutes).</a:t>
            </a:r>
          </a:p>
          <a:p xmlns:a="http://schemas.openxmlformats.org/drawingml/2006/main">
            <a:r>
              <a:t>Open the real file and show the import lines followed by the page content. Explain that import means 'use the piece defined in this other file'. Each capitalised tag refers to a component. Hero is the opening welcome section. This excerpt omits Sponsors, RideDiary, Photos, Faq, ContactUs and Disclaimer to make the pattern readable. Show the complete file in the editor. Do not suggest the learner paste the ellipsis into source. CHECK: Where would you look to understand the order of page sections? src/pages/index.astro.</a:t>
            </a:r>
          </a:p>
          <a:p xmlns:a="http://schemas.openxmlformats.org/drawingml/2006/main">
            <a:r>
              <a:t/>
            </a:r>
          </a:p>
          <a:p xmlns:a="http://schemas.openxmlformats.org/drawingml/2006/main">
            <a:r>
              <a:t>SOURCE FILES (paths inside P:\bootstraprefactor\astro-prototype):</a:t>
            </a:r>
          </a:p>
          <a:p xmlns:a="http://schemas.openxmlformats.org/drawingml/2006/main">
            <a:r>
              <a:t>src/pages/index.astro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21:00–23:00 (2 minutes).</a:t>
            </a:r>
          </a:p>
          <a:p xmlns:a="http://schemas.openxmlformats.org/drawingml/2006/main">
            <a:r>
              <a:t>Point to SiteLayout in index.astro, then open the layout. Explain that slot is a placeholder for the content inside SiteLayout. The head contains information about the page, including the browser tab title, while body contains the page content. The top imports load Bootstrap CSS and the project's SCSS. data-bs-theme requests Bootstrap's dark theme. Keep the lesson at recognition level: this is usually not the first place to edit ordinary section wording. CHECK: A client asks to change the browser tab title. Which file? SiteLayout.astro.</a:t>
            </a:r>
          </a:p>
          <a:p xmlns:a="http://schemas.openxmlformats.org/drawingml/2006/main">
            <a:r>
              <a:t/>
            </a:r>
          </a:p>
          <a:p xmlns:a="http://schemas.openxmlformats.org/drawingml/2006/main">
            <a:r>
              <a:t>SOURCE FILES (paths inside P:\bootstraprefactor\astro-prototype):</a:t>
            </a:r>
          </a:p>
          <a:p xmlns:a="http://schemas.openxmlformats.org/drawingml/2006/main">
            <a:r>
              <a:t>src/layouts/SiteLayout.astro</a:t>
            </a:r>
          </a:p>
          <a:p xmlns:a="http://schemas.openxmlformats.org/drawingml/2006/main">
            <a:r>
              <a:t>src/scripts/site.ts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23:00–25:00 (2 minutes).</a:t>
            </a:r>
          </a:p>
          <a:p xmlns:a="http://schemas.openxmlformats.org/drawingml/2006/main">
            <a:r>
              <a:t>Show a section in the browser, then click the matching component file. A carousel is a rotating set of images. An accordion is content that expands and collapses. Point out the useful naming convention and the two important exceptions to 'everything is text in a component': longer rides arrive from JSON, and Photos also uses JSON. Section templates do not each represent a separate web page. CHECK: Ask where to begin for a change to the contact wording, and then for a change to a longer ride's distance. Expected answers: ContactUs.astro and longer-rides.json.</a:t>
            </a:r>
          </a:p>
          <a:p xmlns:a="http://schemas.openxmlformats.org/drawingml/2006/main">
            <a:r>
              <a:t/>
            </a:r>
          </a:p>
          <a:p xmlns:a="http://schemas.openxmlformats.org/drawingml/2006/main">
            <a:r>
              <a:t>SOURCE FILES (paths inside P:\bootstraprefactor\astro-prototype):</a:t>
            </a:r>
          </a:p>
          <a:p xmlns:a="http://schemas.openxmlformats.org/drawingml/2006/main">
            <a:r>
              <a:t>src/components/Hero.astro</a:t>
            </a:r>
          </a:p>
          <a:p xmlns:a="http://schemas.openxmlformats.org/drawingml/2006/main">
            <a:r>
              <a:t>src/components/AboutUs.astro</a:t>
            </a:r>
          </a:p>
          <a:p xmlns:a="http://schemas.openxmlformats.org/drawingml/2006/main">
            <a:r>
              <a:t>src/components/RideDiary.astro</a:t>
            </a:r>
          </a:p>
          <a:p xmlns:a="http://schemas.openxmlformats.org/drawingml/2006/main">
            <a:r>
              <a:t>src/components/Faq.astro</a:t>
            </a:r>
          </a:p>
          <a:p xmlns:a="http://schemas.openxmlformats.org/drawingml/2006/main">
            <a:r>
              <a:t>src/components/ContactUs.astro</a:t>
            </a:r>
          </a:p>
          <a:p xmlns:a="http://schemas.openxmlformats.org/drawingml/2006/main">
            <a:r>
              <a:t>src/components/Photos.astro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25:00–28:00 (3 minutes).</a:t>
            </a:r>
          </a:p>
          <a:p xmlns:a="http://schemas.openxmlformats.org/drawingml/2006/main">
            <a:r>
              <a:t>Use the editor to locate the original sentence. Select only the sentence between the paragraph tags, not the tags themselves. Read the before and after aloud. Demonstrate the edit in a disposable copy or an unsaved buffer and restore it after the lesson. Explain save and undo if needed. Show the change in the prepared preview if the local session already supports it; setup commands remain outside this lesson. CHECK: Ask the learner to explain why the opening and closing tags remain in place.</a:t>
            </a:r>
          </a:p>
          <a:p xmlns:a="http://schemas.openxmlformats.org/drawingml/2006/main">
            <a:r>
              <a:t/>
            </a:r>
          </a:p>
          <a:p xmlns:a="http://schemas.openxmlformats.org/drawingml/2006/main">
            <a:r>
              <a:t>SOURCE FILES (paths inside P:\bootstraprefactor\astro-prototype):</a:t>
            </a:r>
          </a:p>
          <a:p xmlns:a="http://schemas.openxmlformats.org/drawingml/2006/main">
            <a:r>
              <a:t>src/components/ContactUs.astro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28:00–31:00 (3 minutes).</a:t>
            </a:r>
          </a:p>
          <a:p xmlns:a="http://schemas.openxmlformats.org/drawingml/2006/main">
            <a:r>
              <a:t>Explain that the link's visible words and destination are separate. The source link in Hero also has styling attributes omitted here. The hash links to the section whose ID matches exactly. A full https URL can open another website, while mailto opens an email application if one is configured. IDs also act as hooks for scripts, so casually renaming one can break a connection. Classes can repeat on many elements; IDs should be unique on the page. CHECK: If we change only the visible link words, does the destination change? No.</a:t>
            </a:r>
          </a:p>
          <a:p xmlns:a="http://schemas.openxmlformats.org/drawingml/2006/main">
            <a:r>
              <a:t/>
            </a:r>
          </a:p>
          <a:p xmlns:a="http://schemas.openxmlformats.org/drawingml/2006/main">
            <a:r>
              <a:t>SOURCE FILES (paths inside P:\bootstraprefactor\astro-prototype):</a:t>
            </a:r>
          </a:p>
          <a:p xmlns:a="http://schemas.openxmlformats.org/drawingml/2006/main">
            <a:r>
              <a:t>src/components/Hero.astro</a:t>
            </a:r>
          </a:p>
          <a:p xmlns:a="http://schemas.openxmlformats.org/drawingml/2006/main">
            <a:r>
              <a:t>src/components/ContactUs.astro</a:t>
            </a:r>
          </a:p>
          <a:p xmlns:a="http://schemas.openxmlformats.org/drawingml/2006/main">
            <a:r>
              <a:t>src/components/Navigation.astro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31:00–33:00 (2 minutes).</a:t>
            </a:r>
          </a:p>
          <a:p xmlns:a="http://schemas.openxmlformats.org/drawingml/2006/main">
            <a:r>
              <a:t>Show the actual image file and the img element that points to it. The public folder name is not part of this image URL. img-fluid is a Bootstrap class that helps the image fit its container. Explain that an image element does not need a closing &lt;/img&gt; tag. For a replacement image, change the filename reference and update alt when the meaning changes. A new WhatsApp invitation can also require a matching new QR code and updates to the text links. CHECK: Where would a missing image investigation start? Compare src with the real file path.</a:t>
            </a:r>
          </a:p>
          <a:p xmlns:a="http://schemas.openxmlformats.org/drawingml/2006/main">
            <a:r>
              <a:t/>
            </a:r>
          </a:p>
          <a:p xmlns:a="http://schemas.openxmlformats.org/drawingml/2006/main">
            <a:r>
              <a:t>SOURCE FILES (paths inside P:\bootstraprefactor\astro-prototype):</a:t>
            </a:r>
          </a:p>
          <a:p xmlns:a="http://schemas.openxmlformats.org/drawingml/2006/main">
            <a:r>
              <a:t>src/components/ContactUs.astro</a:t>
            </a:r>
          </a:p>
          <a:p xmlns:a="http://schemas.openxmlformats.org/drawingml/2006/main">
            <a:r>
              <a:t>public/img/mm-qr-code.jpg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33:00–36:00 (3 minutes).</a:t>
            </a:r>
          </a:p>
          <a:p xmlns:a="http://schemas.openxmlformats.org/drawingml/2006/main">
            <a:r>
              <a:t>Connect this selector back to the heading from slide 5. Read colour and italic first, leaving font-family details secondary. Explain braces as the boundary of the rule and semicolons as the separators between settings. var(...) reads a named CSS value defined elsewhere. A selector is the part that chooses which elements receive the rule. A global .brand-text change can affect many headings and links at once. CHECK: Would editing this rule affect only Contact Us? No, every matching element can be affected. The actual result also depends on other applicable rules.</a:t>
            </a:r>
          </a:p>
          <a:p xmlns:a="http://schemas.openxmlformats.org/drawingml/2006/main">
            <a:r>
              <a:t/>
            </a:r>
          </a:p>
          <a:p xmlns:a="http://schemas.openxmlformats.org/drawingml/2006/main">
            <a:r>
              <a:t>SOURCE FILES (paths inside P:\bootstraprefactor\astro-prototype):</a:t>
            </a:r>
          </a:p>
          <a:p xmlns:a="http://schemas.openxmlformats.org/drawingml/2006/main">
            <a:r>
              <a:t>src/scss/styles.scss</a:t>
            </a:r>
          </a:p>
          <a:p xmlns:a="http://schemas.openxmlformats.org/drawingml/2006/main">
            <a:r>
              <a:t>src/components/ContactUs.astro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36:00–38:00 (2 minutes).</a:t>
            </a:r>
          </a:p>
          <a:p xmlns:a="http://schemas.openxmlformats.org/drawingml/2006/main">
            <a:r>
              <a:t>Explain a library as code someone has already written for a common task. Show a yellow button and the two contact columns. The class attribute can hold multiple class names separated by spaces. Bootstrap is present in this project; the learner does not need to memorise the full library. Resize the prepared browser window to show that layouts can change with available space. Mention that some classes include breakpoint names, such as col-xxl-6 in About Us, so layouts can differ at different widths. CHECK: Which part of btn-warning suggests the colour choice?</a:t>
            </a:r>
          </a:p>
          <a:p xmlns:a="http://schemas.openxmlformats.org/drawingml/2006/main">
            <a:r>
              <a:t/>
            </a:r>
          </a:p>
          <a:p xmlns:a="http://schemas.openxmlformats.org/drawingml/2006/main">
            <a:r>
              <a:t>SOURCE FILES (paths inside P:\bootstraprefactor\astro-prototype):</a:t>
            </a:r>
          </a:p>
          <a:p xmlns:a="http://schemas.openxmlformats.org/drawingml/2006/main">
            <a:r>
              <a:t>src/components/Photos.astro</a:t>
            </a:r>
          </a:p>
          <a:p xmlns:a="http://schemas.openxmlformats.org/drawingml/2006/main">
            <a:r>
              <a:t>src/components/ContactUs.astro</a:t>
            </a:r>
          </a:p>
          <a:p xmlns:a="http://schemas.openxmlformats.org/drawingml/2006/main">
            <a:r>
              <a:t>src/components/AboutUs.astro</a:t>
            </a:r>
          </a:p>
          <a:p xmlns:a="http://schemas.openxmlformats.org/drawingml/2006/main">
            <a:r>
              <a:t>src/layouts/SiteLayout.astro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38:00–40:00 (2 minutes).</a:t>
            </a:r>
          </a:p>
          <a:p xmlns:a="http://schemas.openxmlformats.org/drawingml/2006/main">
            <a:r>
              <a:t>Show the @use lines in styles.scss, then the style block at the bottom of Photos.astro. Explain that @use brings another Sass stylesheet into the styling. Most styles in a component's style block are scoped by Astro; Photos also uses :global for a specific selector, so 'usually' matters. Show the @media rule changing .carousel-img height from 400px to 250px on narrow screens. Explain that px means pixels here and max-width tests the available viewport width. Avoid teaching the entire CSS cascade. CHECK: If a style works on desktop but fails on mobile, where might we look? At responsive/media-query rules.</a:t>
            </a:r>
          </a:p>
          <a:p xmlns:a="http://schemas.openxmlformats.org/drawingml/2006/main">
            <a:r>
              <a:t/>
            </a:r>
          </a:p>
          <a:p xmlns:a="http://schemas.openxmlformats.org/drawingml/2006/main">
            <a:r>
              <a:t>SOURCE FILES (paths inside P:\bootstraprefactor\astro-prototype):</a:t>
            </a:r>
          </a:p>
          <a:p xmlns:a="http://schemas.openxmlformats.org/drawingml/2006/main">
            <a:r>
              <a:t>src/scss/styles.scss</a:t>
            </a:r>
          </a:p>
          <a:p xmlns:a="http://schemas.openxmlformats.org/drawingml/2006/main">
            <a:r>
              <a:t>src/scss/base/base.scss</a:t>
            </a:r>
          </a:p>
          <a:p xmlns:a="http://schemas.openxmlformats.org/drawingml/2006/main">
            <a:r>
              <a:t>src/components/Photos.astro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40:00–45:00 (5 minutes, including a short pause).</a:t>
            </a:r>
          </a:p>
          <a:p xmlns:a="http://schemas.openxmlformats.org/drawingml/2006/main">
            <a:r>
              <a:t>Let the learner answer without racing. Answers: ContactUs.astro; src/scss/styles.scss for .brand-text; src/pages/index.astro; compare the image's src path and the file in public/img, including exact spelling and case. Ask them to find one of the files in the editor rather than just repeat its name. Use the remaining time for a short comfort break or clarification. The next part introduces data, so resolve uncertainty about file locations first. Do not treat this as a test of intelligence; use it to adjust the explanation.</a:t>
            </a:r>
          </a:p>
          <a:p xmlns:a="http://schemas.openxmlformats.org/drawingml/2006/main">
            <a:r>
              <a:t/>
            </a:r>
          </a:p>
          <a:p xmlns:a="http://schemas.openxmlformats.org/drawingml/2006/main">
            <a:r>
              <a:t>SOURCE FILES (paths inside P:\bootstraprefactor\astro-prototype):</a:t>
            </a:r>
          </a:p>
          <a:p xmlns:a="http://schemas.openxmlformats.org/drawingml/2006/main">
            <a:r>
              <a:t>src/components/ContactUs.astro</a:t>
            </a:r>
          </a:p>
          <a:p xmlns:a="http://schemas.openxmlformats.org/drawingml/2006/main">
            <a:r>
              <a:t>src/scss/styles.scss</a:t>
            </a:r>
          </a:p>
          <a:p xmlns:a="http://schemas.openxmlformats.org/drawingml/2006/main">
            <a:r>
              <a:t>src/pages/index.astro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45:00–48:00 (3 minutes).</a:t>
            </a:r>
          </a:p>
          <a:p xmlns:a="http://schemas.openxmlformats.org/drawingml/2006/main">
            <a:r>
              <a:t>Explain { } as one record or object and [ ] as a list or array. This code is valid JSON, but it is only a teaching fragment and lacks fields required by the site's ride data. Commas separate fields, and there is no comma after the final one. JSON has no comments. A colon separates a field name from its value. Distinguish null from the text "null". Show how a list can contain several ride objects. CHECK: Is 30 a number or text here? A number. What would [] mean for notes? No notes entered yet.</a:t>
            </a:r>
          </a:p>
          <a:p xmlns:a="http://schemas.openxmlformats.org/drawingml/2006/main">
            <a:r>
              <a:t/>
            </a:r>
          </a:p>
          <a:p xmlns:a="http://schemas.openxmlformats.org/drawingml/2006/main">
            <a:r>
              <a:t>SOURCE FILES (paths inside P:\bootstraprefactor\astro-prototype):</a:t>
            </a:r>
          </a:p>
          <a:p xmlns:a="http://schemas.openxmlformats.org/drawingml/2006/main">
            <a:r>
              <a:t>public/data/longer-rides.json</a:t>
            </a:r>
          </a:p>
          <a:p xmlns:a="http://schemas.openxmlformats.org/drawingml/2006/main">
            <a:r>
              <a:t>src/lib/data.ts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48:00–51:00 (3 minutes).</a:t>
            </a:r>
          </a:p>
          <a:p xmlns:a="http://schemas.openxmlformats.org/drawingml/2006/main">
            <a:r>
              <a:t>Open the War of the Worlds record in archivedRides. Explain that the selected fields on the slide are an excerpt, not standalone JSON. Distinguish the ride ID from an HTML element ID: both are identifiers, but they belong to different structures. The record's year agrees with the date. Show meetPoint as an object inside the ride object and notes as a list of text entries. The current file has programmeYear 2027, an empty longerRides list, and archived ride records. CHECK: Where is Woking stored? In the destination field.</a:t>
            </a:r>
          </a:p>
          <a:p xmlns:a="http://schemas.openxmlformats.org/drawingml/2006/main">
            <a:r>
              <a:t/>
            </a:r>
          </a:p>
          <a:p xmlns:a="http://schemas.openxmlformats.org/drawingml/2006/main">
            <a:r>
              <a:t>SOURCE FILES (paths inside P:\bootstraprefactor\astro-prototype):</a:t>
            </a:r>
          </a:p>
          <a:p xmlns:a="http://schemas.openxmlformats.org/drawingml/2006/main">
            <a:r>
              <a:t>public/data/longer-rides.json</a:t>
            </a:r>
          </a:p>
          <a:p xmlns:a="http://schemas.openxmlformats.org/drawingml/2006/main">
            <a:r>
              <a:t>src/lib/data.ts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51:00–54:00 (3 minutes).</a:t>
            </a:r>
          </a:p>
          <a:p xmlns:a="http://schemas.openxmlformats.org/drawingml/2006/main">
            <a:r>
              <a:t>Walk through the numbered path while showing the matching files. loadRideData fetches the JSON in the browser and parseRideData checks the shape and required values. ride-diary.js creates the HTML for longer and archived rides and places it into the page. The component already includes the regular ride content. Define rendering as turning information into what a visitor sees. Show the Loading Longer Rides message and target container in the component source. CHECK: To fix the distance of one longer ride, would you start by editing the rendering script? No, start with that ride's JSON record.</a:t>
            </a:r>
          </a:p>
          <a:p xmlns:a="http://schemas.openxmlformats.org/drawingml/2006/main">
            <a:r>
              <a:t/>
            </a:r>
          </a:p>
          <a:p xmlns:a="http://schemas.openxmlformats.org/drawingml/2006/main">
            <a:r>
              <a:t>SOURCE FILES (paths inside P:\bootstraprefactor\astro-prototype):</a:t>
            </a:r>
          </a:p>
          <a:p xmlns:a="http://schemas.openxmlformats.org/drawingml/2006/main">
            <a:r>
              <a:t>public/data/longer-rides.json</a:t>
            </a:r>
          </a:p>
          <a:p xmlns:a="http://schemas.openxmlformats.org/drawingml/2006/main">
            <a:r>
              <a:t>src/lib/data.ts</a:t>
            </a:r>
          </a:p>
          <a:p xmlns:a="http://schemas.openxmlformats.org/drawingml/2006/main">
            <a:r>
              <a:t>src/js/ride-diary.js</a:t>
            </a:r>
          </a:p>
          <a:p xmlns:a="http://schemas.openxmlformats.org/drawingml/2006/main">
            <a:r>
              <a:t>src/components/RideDiary.astro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54:00–56:00 (2 minutes).</a:t>
            </a:r>
          </a:p>
          <a:p xmlns:a="http://schemas.openxmlformats.org/drawingml/2006/main">
            <a:r>
              <a:t>Explain reuse: updating one longer ride record can affect both the diary and Where To Next. dates.ts contains the selection and time calculations. where-to-next.ts displays the selected ride and updates the clock each second. programmeYear labels the programme, but a ride must still have a future departure to qualify. In the inspected source longerRides is empty, so the seasonal fallback is expected. The fallback is explicitly coded for 1 December 2026 at 19:00 and uses a separate image. It does not automatically roll forward each year. Avoid making claims about the live website's current state. CHECK: Would adding a future date to an archived record make it appear next? No.</a:t>
            </a:r>
          </a:p>
          <a:p xmlns:a="http://schemas.openxmlformats.org/drawingml/2006/main">
            <a:r>
              <a:t/>
            </a:r>
          </a:p>
          <a:p xmlns:a="http://schemas.openxmlformats.org/drawingml/2006/main">
            <a:r>
              <a:t>SOURCE FILES (paths inside P:\bootstraprefactor\astro-prototype):</a:t>
            </a:r>
          </a:p>
          <a:p xmlns:a="http://schemas.openxmlformats.org/drawingml/2006/main">
            <a:r>
              <a:t>src/scripts/where-to-next.ts</a:t>
            </a:r>
          </a:p>
          <a:p xmlns:a="http://schemas.openxmlformats.org/drawingml/2006/main">
            <a:r>
              <a:t>src/lib/dates.ts</a:t>
            </a:r>
          </a:p>
          <a:p xmlns:a="http://schemas.openxmlformats.org/drawingml/2006/main">
            <a:r>
              <a:t>public/data/longer-rides.json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56:00–58:00 (2 minutes).</a:t>
            </a:r>
          </a:p>
          <a:p xmlns:a="http://schemas.openxmlformats.org/drawingml/2006/main">
            <a:r>
              <a:t>Explain that Photos links to shared albums rather than storing those album photos in JSON. Photos.astro reads the data to prepare the collections, and scripts/photos.ts chooses the current and archived menus in the browser using the UK year. Future years stay hidden and empty archive years do not appear. A missing or empty current year gets a coming-soon message. Changing a JSON link requires the normal source-to-preview workflow, which the maintainer will cover separately; the calendar selection itself runs when the page loads. This is separate from programmeYear in the rides file. CHECK: Does editing photosUrl in a ride automatically change the Photos menu? No.</a:t>
            </a:r>
          </a:p>
          <a:p xmlns:a="http://schemas.openxmlformats.org/drawingml/2006/main">
            <a:r>
              <a:t/>
            </a:r>
          </a:p>
          <a:p xmlns:a="http://schemas.openxmlformats.org/drawingml/2006/main">
            <a:r>
              <a:t>SOURCE FILES (paths inside P:\bootstraprefactor\astro-prototype):</a:t>
            </a:r>
          </a:p>
          <a:p xmlns:a="http://schemas.openxmlformats.org/drawingml/2006/main">
            <a:r>
              <a:t>public/data/photos.json</a:t>
            </a:r>
          </a:p>
          <a:p xmlns:a="http://schemas.openxmlformats.org/drawingml/2006/main">
            <a:r>
              <a:t>src/components/Photos.astro</a:t>
            </a:r>
          </a:p>
          <a:p xmlns:a="http://schemas.openxmlformats.org/drawingml/2006/main">
            <a:r>
              <a:t>src/scripts/photos.ts</a:t>
            </a:r>
          </a:p>
          <a:p xmlns:a="http://schemas.openxmlformats.org/drawingml/2006/main">
            <a:r>
              <a:t>src/lib/photos.ts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58:00–60:00 (2 minutes).</a:t>
            </a:r>
          </a:p>
          <a:p xmlns:a="http://schemas.openxmlformats.org/drawingml/2006/main">
            <a:r>
              <a:t>Open public/data/ride-template.json. It contains instructions, examples and newRide, so copying the entire file would be wrong. Its empty meetPoint.note and placeholder date are not ready to pass validation unchanged. Use startTime in HH:MM, a matching numeric year, and a non-negative numeric distance. Include destination, startTime and overallTime for useful diary output even where the validator permits omission; rideTime may be TBC. Show that parseRideData checks duplicates and date formats, but cannot confirm image files exist or that a shared folder opens for visitors. The handout has a complete practice record. Save real authoring and review workflow for a supervised task.</a:t>
            </a:r>
          </a:p>
          <a:p xmlns:a="http://schemas.openxmlformats.org/drawingml/2006/main">
            <a:r>
              <a:t/>
            </a:r>
          </a:p>
          <a:p xmlns:a="http://schemas.openxmlformats.org/drawingml/2006/main">
            <a:r>
              <a:t>SOURCE FILES (paths inside P:\bootstraprefactor\astro-prototype):</a:t>
            </a:r>
          </a:p>
          <a:p xmlns:a="http://schemas.openxmlformats.org/drawingml/2006/main">
            <a:r>
              <a:t>public/data/ride-template.json</a:t>
            </a:r>
          </a:p>
          <a:p xmlns:a="http://schemas.openxmlformats.org/drawingml/2006/main">
            <a:r>
              <a:t>src/lib/data.ts</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60:00–62:00 (2 minutes).</a:t>
            </a:r>
          </a:p>
          <a:p xmlns:a="http://schemas.openxmlformats.org/drawingml/2006/main">
            <a:r>
              <a:t>Return to the menu in the preview and click a navigation item. Name the action as an event. Explain the DOM only if useful: it is the browser's representation of the page elements, which scripts can read and change. A function is like a named set of steps, and a variable is a named value used by those steps. TypeScript adds descriptions such as string or number to help catch mistakes, but the concepts are the same. Avoid an exhaustive syntax lecture. CHECK: What is the event when someone presses a navigation link? A click.</a:t>
            </a:r>
          </a:p>
          <a:p xmlns:a="http://schemas.openxmlformats.org/drawingml/2006/main">
            <a:r>
              <a:t/>
            </a:r>
          </a:p>
          <a:p xmlns:a="http://schemas.openxmlformats.org/drawingml/2006/main">
            <a:r>
              <a:t>SOURCE FILES (paths inside P:\bootstraprefactor\astro-prototype):</a:t>
            </a:r>
          </a:p>
          <a:p xmlns:a="http://schemas.openxmlformats.org/drawingml/2006/main">
            <a:r>
              <a:t>src/js/navlink.js</a:t>
            </a:r>
          </a:p>
          <a:p xmlns:a="http://schemas.openxmlformats.org/drawingml/2006/main">
            <a:r>
              <a:t>src/scripts/where-to-next.ts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62:00–65:00 (3 minutes).</a:t>
            </a:r>
          </a:p>
          <a:p xmlns:a="http://schemas.openxmlformats.org/drawingml/2006/main">
            <a:r>
              <a:t>Read this as a story rather than asking the learner to memorise punctuation. document refers to the page; querySelectorAll finds all matches for a CSS selector; forEach repeats the following steps for each link. addEventListener registers what to do later when a click happens. The =&gt; notation starts a small function. ?. safely stops the removal if no matching active element exists. classList edits class labels on an element. Explain that navlink.js also contains mobile menu closing code below this block. The shown code selects the first .active element on the page, so do not describe it as a navigation-scoped search. CHECK: Is active visible text or a class name? A class name.</a:t>
            </a:r>
          </a:p>
          <a:p xmlns:a="http://schemas.openxmlformats.org/drawingml/2006/main">
            <a:r>
              <a:t/>
            </a:r>
          </a:p>
          <a:p xmlns:a="http://schemas.openxmlformats.org/drawingml/2006/main">
            <a:r>
              <a:t>SOURCE FILES (paths inside P:\bootstraprefactor\astro-prototype):</a:t>
            </a:r>
          </a:p>
          <a:p xmlns:a="http://schemas.openxmlformats.org/drawingml/2006/main">
            <a:r>
              <a:t>src/js/navlink.js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65:00–67:00 (2 minutes).</a:t>
            </a:r>
          </a:p>
          <a:p xmlns:a="http://schemas.openxmlformats.org/drawingml/2006/main">
            <a:r>
              <a:t>Open the FAQ and demonstrate one question. Show the matching button target and answer ID in the source. Explain data-bs-* as attributes Bootstrap reads. The full answer container also has data-bs-parent linking it to the accordion, and the actual button has classes and type. The excerpt deliberately omits these details. Renaming only question-one on one side breaks the connection. Bootstrap's JavaScript is imported by scripts/site.ts, which the shared layout loads. CHECK: If a copied FAQ opens the wrong answer, what would you compare? The target and the corresponding unique ID.</a:t>
            </a:r>
          </a:p>
          <a:p xmlns:a="http://schemas.openxmlformats.org/drawingml/2006/main">
            <a:r>
              <a:t/>
            </a:r>
          </a:p>
          <a:p xmlns:a="http://schemas.openxmlformats.org/drawingml/2006/main">
            <a:r>
              <a:t>SOURCE FILES (paths inside P:\bootstraprefactor\astro-prototype):</a:t>
            </a:r>
          </a:p>
          <a:p xmlns:a="http://schemas.openxmlformats.org/drawingml/2006/main">
            <a:r>
              <a:t>src/components/Faq.astro</a:t>
            </a:r>
          </a:p>
          <a:p xmlns:a="http://schemas.openxmlformats.org/drawingml/2006/main">
            <a:r>
              <a:t>src/scripts/site.ts</a:t>
            </a:r>
          </a:p>
          <a:p xmlns:a="http://schemas.openxmlformats.org/drawingml/2006/main">
            <a:r>
              <a:t>src/layouts/SiteLayout.astro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67:00–70:00 (3 minutes).</a:t>
            </a:r>
          </a:p>
          <a:p xmlns:a="http://schemas.openxmlformats.org/drawingml/2006/main">
            <a:r>
              <a:t>Demonstrate editor search with the Contact Us sentence and show that searching across files can reveal repeated wording. Introduce browser developer tools briefly: Elements lets you inspect the current page and Console can show script errors. Changes made only in Elements are temporary and do not update saved source. For help, collect the file path, what changed, the expected result, the actual result and the full error text. If the preview still looks old, confirm the correct project and the maintainer's preview workflow before editing more files. No terminal commands are required in this session. CHECK: Does changing text only in browser developer tools save it in ContactUs.astro? No.</a:t>
            </a:r>
          </a:p>
          <a:p xmlns:a="http://schemas.openxmlformats.org/drawingml/2006/main">
            <a:r>
              <a:t/>
            </a:r>
          </a:p>
          <a:p xmlns:a="http://schemas.openxmlformats.org/drawingml/2006/main">
            <a:r>
              <a:t>SOURCE FILES (paths inside P:\bootstraprefactor\astro-prototype):</a:t>
            </a:r>
          </a:p>
          <a:p xmlns:a="http://schemas.openxmlformats.org/drawingml/2006/main">
            <a:r>
              <a:t>src/components/ContactUs.astro</a:t>
            </a:r>
          </a:p>
          <a:p xmlns:a="http://schemas.openxmlformats.org/drawingml/2006/main">
            <a:r>
              <a:t>src/components/Faq.astro</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70:00–90:00 (20 minutes, including discussion).</a:t>
            </a:r>
          </a:p>
          <a:p xmlns:a="http://schemas.openxmlformats.org/drawingml/2006/main">
            <a:r>
              <a:t>Ask the learner to explain a content change in their own words: what the visitor sees, which file holds it, and how they would check it. Use remaining time for questions. Recap that index.astro assembles components and SiteLayout.astro wraps them. The main success criterion is finding the right starting point, not reading every line unaided. Ask them to identify one task they feel ready to try with review, such as changing a paragraph or correcting an existing ride record. Agree that new sections, shared behaviour and calendar logic are tasks to pair on. Keep build and deployment questions on a list for the next session.</a:t>
            </a:r>
          </a:p>
          <a:p xmlns:a="http://schemas.openxmlformats.org/drawingml/2006/main">
            <a:r>
              <a:t/>
            </a:r>
          </a:p>
          <a:p xmlns:a="http://schemas.openxmlformats.org/drawingml/2006/main">
            <a:r>
              <a:t>SOURCE FILES (paths inside P:\bootstraprefactor\astro-prototype):</a:t>
            </a:r>
          </a:p>
          <a:p xmlns:a="http://schemas.openxmlformats.org/drawingml/2006/main">
            <a:r>
              <a:t>src/pages/index.astro</a:t>
            </a:r>
          </a:p>
          <a:p xmlns:a="http://schemas.openxmlformats.org/drawingml/2006/main">
            <a:r>
              <a:t>src/layouts/SiteLayout.astro</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7d5db734af43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5f07e0d87542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7d9466d3c140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f455bdada64b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fe63d96b814e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992261859c4d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435036-3D8E-4AFB-A838-B9C9A757F7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938628-0702-4C65-BF37-415D2C2A4D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0E8AA8-B5F8-4318-964D-C4F7377773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24A0D2-5A03-4356-BD69-696D07F5F7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A33E0C-C6A8-4297-BF0B-4405E6B4F9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E013E5-4012-4B11-B8C1-D5F1D83420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38260F-A2C6-4BB3-A2DD-D6ABDB09D1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2E2C54-9871-4C65-BE4A-600E1F1512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FAF9D6-D766-4EB8-923D-2A791C1AD6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2378BA-BF13-4BEE-BF2C-4B41ACFF7C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cdee0f8a694f3b" /><Relationship Type="http://schemas.openxmlformats.org/officeDocument/2006/relationships/slideLayout" Target="/ppt/slideLayouts/slideLayout1.xml" Id="R5b87cb5967ca4e28" /><Relationship Type="http://schemas.openxmlformats.org/officeDocument/2006/relationships/slideLayout" Target="/ppt/slideLayouts/slideLayout2.xml" Id="Rce0e632d9e824a88" /><Relationship Type="http://schemas.openxmlformats.org/officeDocument/2006/relationships/slideLayout" Target="/ppt/slideLayouts/slideLayout3.xml" Id="Rb5a332ccde984092" /><Relationship Type="http://schemas.openxmlformats.org/officeDocument/2006/relationships/slideLayout" Target="/ppt/slideLayouts/slideLayout4.xml" Id="R3fc34685c9a94001" /><Relationship Type="http://schemas.openxmlformats.org/officeDocument/2006/relationships/slideLayout" Target="/ppt/slideLayouts/slideLayout5.xml" Id="Re47b1ac55d2c434b" /><Relationship Type="http://schemas.openxmlformats.org/officeDocument/2006/relationships/slideLayout" Target="/ppt/slideLayouts/slideLayout6.xml" Id="R66c209f91ff746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87cb5967ca4e28"/>
    <p:sldLayoutId xmlns:r="http://schemas.openxmlformats.org/officeDocument/2006/relationships" id="2147483650" r:id="Rce0e632d9e824a88"/>
    <p:sldLayoutId xmlns:r="http://schemas.openxmlformats.org/officeDocument/2006/relationships" id="2147483651" r:id="Rb5a332ccde984092"/>
    <p:sldLayoutId xmlns:r="http://schemas.openxmlformats.org/officeDocument/2006/relationships" id="2147483652" r:id="R3fc34685c9a94001"/>
    <p:sldLayoutId xmlns:r="http://schemas.openxmlformats.org/officeDocument/2006/relationships" id="2147483653" r:id="Re47b1ac55d2c434b"/>
    <p:sldLayoutId xmlns:r="http://schemas.openxmlformats.org/officeDocument/2006/relationships" id="2147483654" r:id="R66c209f91ff746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43fd4881954369" /><Relationship Type="http://schemas.openxmlformats.org/officeDocument/2006/relationships/notesSlide" Target="/ppt/notesSlides/notesSlide1.xml" Id="R2883f313084646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f38940ece04e76" /><Relationship Type="http://schemas.openxmlformats.org/officeDocument/2006/relationships/notesSlide" Target="/ppt/notesSlides/notesSlide2.xml" Id="R43f729da91a84c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30e44121954634" /><Relationship Type="http://schemas.openxmlformats.org/officeDocument/2006/relationships/notesSlide" Target="/ppt/notesSlides/notesSlide3.xml" Id="R858c3c245d6449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4e3dc6e4b245fa" /><Relationship Type="http://schemas.openxmlformats.org/officeDocument/2006/relationships/notesSlide" Target="/ppt/notesSlides/notesSlide4.xml" Id="R31b1a7d84c0b41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b1e9df4b27499d" /><Relationship Type="http://schemas.openxmlformats.org/officeDocument/2006/relationships/notesSlide" Target="/ppt/notesSlides/notesSlide5.xml" Id="R869409e78bd14a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5af5cc683841e1" /><Relationship Type="http://schemas.openxmlformats.org/officeDocument/2006/relationships/notesSlide" Target="/ppt/notesSlides/notesSlide6.xml" Id="R8a91d50b6eb54d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2790ce2e934804" /><Relationship Type="http://schemas.openxmlformats.org/officeDocument/2006/relationships/notesSlide" Target="/ppt/notesSlides/notesSlide7.xml" Id="Rd484bfd4cc4545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8a6f1295464362" /><Relationship Type="http://schemas.openxmlformats.org/officeDocument/2006/relationships/notesSlide" Target="/ppt/notesSlides/notesSlide8.xml" Id="R09b5a8ec0b0945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04e0f0fa6c4aa1" /><Relationship Type="http://schemas.openxmlformats.org/officeDocument/2006/relationships/notesSlide" Target="/ppt/notesSlides/notesSlide9.xml" Id="R8958ef7474244b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559eec6bf84439" /><Relationship Type="http://schemas.openxmlformats.org/officeDocument/2006/relationships/notesSlide" Target="/ppt/notesSlides/notesSlide10.xml" Id="R46d21fea12b848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f12af9e08804ed0" /><Relationship Type="http://schemas.openxmlformats.org/officeDocument/2006/relationships/notesSlide" Target="/ppt/notesSlides/notesSlide11.xml" Id="R9d2ef129b30c4e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ed90a3905ec44a1" /><Relationship Type="http://schemas.openxmlformats.org/officeDocument/2006/relationships/notesSlide" Target="/ppt/notesSlides/notesSlide12.xml" Id="R14e84c37ac8846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fea0b200db94a75" /><Relationship Type="http://schemas.openxmlformats.org/officeDocument/2006/relationships/notesSlide" Target="/ppt/notesSlides/notesSlide13.xml" Id="Rfa3ae781316d47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83b49f862d74ac7" /><Relationship Type="http://schemas.openxmlformats.org/officeDocument/2006/relationships/notesSlide" Target="/ppt/notesSlides/notesSlide14.xml" Id="Re09d79ee43f447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7780f43ab6d419b" /><Relationship Type="http://schemas.openxmlformats.org/officeDocument/2006/relationships/notesSlide" Target="/ppt/notesSlides/notesSlide15.xml" Id="R3b398aed7a4248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1693485a4f941d6" /><Relationship Type="http://schemas.openxmlformats.org/officeDocument/2006/relationships/notesSlide" Target="/ppt/notesSlides/notesSlide16.xml" Id="Rf2c7a20ebd7e44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ccffa7b684c4425" /><Relationship Type="http://schemas.openxmlformats.org/officeDocument/2006/relationships/notesSlide" Target="/ppt/notesSlides/notesSlide17.xml" Id="R6ebe58f4cf3b4f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33e32ff1f7948f0" /><Relationship Type="http://schemas.openxmlformats.org/officeDocument/2006/relationships/notesSlide" Target="/ppt/notesSlides/notesSlide18.xml" Id="Re9553cd0b7a649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ee182f5b54f4647" /><Relationship Type="http://schemas.openxmlformats.org/officeDocument/2006/relationships/notesSlide" Target="/ppt/notesSlides/notesSlide19.xml" Id="Re7fe4dc6a94b42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f87aa5a3fdc4aef" /><Relationship Type="http://schemas.openxmlformats.org/officeDocument/2006/relationships/notesSlide" Target="/ppt/notesSlides/notesSlide20.xml" Id="R1edcd5eee52a423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c243b1db060499c" /><Relationship Type="http://schemas.openxmlformats.org/officeDocument/2006/relationships/notesSlide" Target="/ppt/notesSlides/notesSlide21.xml" Id="Rdb4be8c4f7b8416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8e003d8c13e4d18" /><Relationship Type="http://schemas.openxmlformats.org/officeDocument/2006/relationships/notesSlide" Target="/ppt/notesSlides/notesSlide22.xml" Id="Rde085233b878417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b03dd56d4df4fa8" /><Relationship Type="http://schemas.openxmlformats.org/officeDocument/2006/relationships/notesSlide" Target="/ppt/notesSlides/notesSlide23.xml" Id="R5017bc5578e442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2ca4b52c74748fe" /><Relationship Type="http://schemas.openxmlformats.org/officeDocument/2006/relationships/notesSlide" Target="/ppt/notesSlides/notesSlide24.xml" Id="Reeaadc28b68742a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cd85ae8170d4722" /><Relationship Type="http://schemas.openxmlformats.org/officeDocument/2006/relationships/notesSlide" Target="/ppt/notesSlides/notesSlide25.xml" Id="Rde3ecf126fa54d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f0186ea7d07405e" /><Relationship Type="http://schemas.openxmlformats.org/officeDocument/2006/relationships/notesSlide" Target="/ppt/notesSlides/notesSlide26.xml" Id="R7b777b121d794ba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f164c2b3ecc4231" /><Relationship Type="http://schemas.openxmlformats.org/officeDocument/2006/relationships/notesSlide" Target="/ppt/notesSlides/notesSlide27.xml" Id="Rc645d3a925094252" /></Relationships>
</file>

<file path=ppt/slides/slide1.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C9E9B11-2AEE-443B-BB70-EE48AE0F0848}"/>
              </a:ext>
            </a:extLst>
          </p:cNvPr>
          <p:cNvSpPr>
            <a:spLocks xmlns:a="http://schemas.openxmlformats.org/drawingml/2006/main" noGrp="1"/>
          </p:cNvSpPr>
          <p:nvPr/>
        </p:nvSpPr>
        <p:spPr>
          <a:xfrm xmlns:a="http://schemas.openxmlformats.org/drawingml/2006/main">
            <a:off x="685800" y="1695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FC107"/>
                </a:solidFill>
                <a:latin typeface="Arial"/>
                <a:ea typeface="Arial"/>
                <a:cs typeface="Arial"/>
              </a:defRPr>
            </a:defPPr>
            <a:lvl1pPr>
              <a:defRPr sz="4800" b="1">
                <a:solidFill>
                  <a:srgbClr val="FFC107"/>
                </a:solidFill>
                <a:latin typeface="Arial"/>
                <a:ea typeface="Arial"/>
                <a:cs typeface="Arial"/>
              </a:defRPr>
            </a:lvl1pPr>
            <a:lvl2pPr>
              <a:defRPr sz="4800" b="1">
                <a:solidFill>
                  <a:srgbClr val="FFC107"/>
                </a:solidFill>
                <a:latin typeface="Arial"/>
                <a:ea typeface="Arial"/>
                <a:cs typeface="Arial"/>
              </a:defRPr>
            </a:lvl2pPr>
            <a:lvl3pPr>
              <a:defRPr sz="4800" b="1">
                <a:solidFill>
                  <a:srgbClr val="FFC107"/>
                </a:solidFill>
                <a:latin typeface="Arial"/>
                <a:ea typeface="Arial"/>
                <a:cs typeface="Arial"/>
              </a:defRPr>
            </a:lvl3pPr>
            <a:lvl4pPr>
              <a:defRPr sz="4800" b="1">
                <a:solidFill>
                  <a:srgbClr val="FFC107"/>
                </a:solidFill>
                <a:latin typeface="Arial"/>
                <a:ea typeface="Arial"/>
                <a:cs typeface="Arial"/>
              </a:defRPr>
            </a:lvl4pPr>
            <a:lvl5pPr>
              <a:defRPr sz="4800" b="1">
                <a:solidFill>
                  <a:srgbClr val="FFC107"/>
                </a:solidFill>
                <a:latin typeface="Arial"/>
                <a:ea typeface="Arial"/>
                <a:cs typeface="Arial"/>
              </a:defRPr>
            </a:lvl5pPr>
            <a:lvl6pPr>
              <a:defRPr sz="4800" b="1">
                <a:solidFill>
                  <a:srgbClr val="FFC107"/>
                </a:solidFill>
                <a:latin typeface="Arial"/>
                <a:ea typeface="Arial"/>
                <a:cs typeface="Arial"/>
              </a:defRPr>
            </a:lvl6pPr>
            <a:lvl7pPr>
              <a:defRPr sz="4800" b="1">
                <a:solidFill>
                  <a:srgbClr val="FFC107"/>
                </a:solidFill>
                <a:latin typeface="Arial"/>
                <a:ea typeface="Arial"/>
                <a:cs typeface="Arial"/>
              </a:defRPr>
            </a:lvl7pPr>
            <a:lvl8pPr>
              <a:defRPr sz="4800" b="1">
                <a:solidFill>
                  <a:srgbClr val="FFC107"/>
                </a:solidFill>
                <a:latin typeface="Arial"/>
                <a:ea typeface="Arial"/>
                <a:cs typeface="Arial"/>
              </a:defRPr>
            </a:lvl8pPr>
            <a:lvl9pPr>
              <a:defRPr sz="4800" b="1">
                <a:solidFill>
                  <a:srgbClr val="FFC107"/>
                </a:solidFill>
                <a:latin typeface="Arial"/>
                <a:ea typeface="Arial"/>
                <a:cs typeface="Arial"/>
              </a:defRPr>
            </a:lvl9pPr>
          </a:lstStyle>
          <a:p xmlns:a="http://schemas.openxmlformats.org/drawingml/2006/main">
            <a:pPr>
              <a:defRPr sz="4800" b="1">
                <a:solidFill>
                  <a:srgbClr val="FFC107"/>
                </a:solidFill>
              </a:defRPr>
            </a:pPr>
            <a:r>
              <a:rPr sz="4800" b="1">
                <a:solidFill>
                  <a:srgbClr val="FFC107"/>
                </a:solidFill>
                <a:latin typeface="Arial"/>
                <a:ea typeface="Arial"/>
                <a:cs typeface="Arial"/>
              </a:rPr>
              <a:t>Fleet Mucky Mayhem</a:t>
            </a:r>
          </a:p>
        </p:txBody>
      </p:sp>
      <p:sp>
        <p:nvSpPr>
          <p:cNvPr id="3" name="subtitle">
            <a:extLst xmlns:a="http://schemas.openxmlformats.org/drawingml/2006/main">
              <a:ext uri="{FF2B5EF4-FFF2-40B4-BE49-F238E27FC236}">
                <a16:creationId xmlns:a16="http://schemas.microsoft.com/office/drawing/2014/main" id="{A723F16F-CE08-408F-846D-16D816F2AB17}"/>
              </a:ext>
            </a:extLst>
          </p:cNvPr>
          <p:cNvSpPr>
            <a:spLocks xmlns:a="http://schemas.openxmlformats.org/drawingml/2006/main" noGrp="1"/>
          </p:cNvSpPr>
          <p:nvPr/>
        </p:nvSpPr>
        <p:spPr>
          <a:xfrm xmlns:a="http://schemas.openxmlformats.org/drawingml/2006/main">
            <a:off x="6858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F4F5F6"/>
                </a:solidFill>
                <a:latin typeface="Arial"/>
                <a:ea typeface="Arial"/>
                <a:cs typeface="Arial"/>
              </a:defRPr>
            </a:defPPr>
            <a:lvl1pPr>
              <a:defRPr sz="3300" b="0">
                <a:solidFill>
                  <a:srgbClr val="F4F5F6"/>
                </a:solidFill>
                <a:latin typeface="Arial"/>
                <a:ea typeface="Arial"/>
                <a:cs typeface="Arial"/>
              </a:defRPr>
            </a:lvl1pPr>
            <a:lvl2pPr>
              <a:defRPr sz="3300" b="0">
                <a:solidFill>
                  <a:srgbClr val="F4F5F6"/>
                </a:solidFill>
                <a:latin typeface="Arial"/>
                <a:ea typeface="Arial"/>
                <a:cs typeface="Arial"/>
              </a:defRPr>
            </a:lvl2pPr>
            <a:lvl3pPr>
              <a:defRPr sz="3300" b="0">
                <a:solidFill>
                  <a:srgbClr val="F4F5F6"/>
                </a:solidFill>
                <a:latin typeface="Arial"/>
                <a:ea typeface="Arial"/>
                <a:cs typeface="Arial"/>
              </a:defRPr>
            </a:lvl3pPr>
            <a:lvl4pPr>
              <a:defRPr sz="3300" b="0">
                <a:solidFill>
                  <a:srgbClr val="F4F5F6"/>
                </a:solidFill>
                <a:latin typeface="Arial"/>
                <a:ea typeface="Arial"/>
                <a:cs typeface="Arial"/>
              </a:defRPr>
            </a:lvl4pPr>
            <a:lvl5pPr>
              <a:defRPr sz="3300" b="0">
                <a:solidFill>
                  <a:srgbClr val="F4F5F6"/>
                </a:solidFill>
                <a:latin typeface="Arial"/>
                <a:ea typeface="Arial"/>
                <a:cs typeface="Arial"/>
              </a:defRPr>
            </a:lvl5pPr>
            <a:lvl6pPr>
              <a:defRPr sz="3300" b="0">
                <a:solidFill>
                  <a:srgbClr val="F4F5F6"/>
                </a:solidFill>
                <a:latin typeface="Arial"/>
                <a:ea typeface="Arial"/>
                <a:cs typeface="Arial"/>
              </a:defRPr>
            </a:lvl6pPr>
            <a:lvl7pPr>
              <a:defRPr sz="3300" b="0">
                <a:solidFill>
                  <a:srgbClr val="F4F5F6"/>
                </a:solidFill>
                <a:latin typeface="Arial"/>
                <a:ea typeface="Arial"/>
                <a:cs typeface="Arial"/>
              </a:defRPr>
            </a:lvl7pPr>
            <a:lvl8pPr>
              <a:defRPr sz="3300" b="0">
                <a:solidFill>
                  <a:srgbClr val="F4F5F6"/>
                </a:solidFill>
                <a:latin typeface="Arial"/>
                <a:ea typeface="Arial"/>
                <a:cs typeface="Arial"/>
              </a:defRPr>
            </a:lvl8pPr>
            <a:lvl9pPr>
              <a:defRPr sz="3300" b="0">
                <a:solidFill>
                  <a:srgbClr val="F4F5F6"/>
                </a:solidFill>
                <a:latin typeface="Arial"/>
                <a:ea typeface="Arial"/>
                <a:cs typeface="Arial"/>
              </a:defRPr>
            </a:lvl9pPr>
          </a:lstStyle>
          <a:p xmlns:a="http://schemas.openxmlformats.org/drawingml/2006/main">
            <a:pPr>
              <a:defRPr sz="3300" b="0">
                <a:solidFill>
                  <a:srgbClr val="F4F5F6"/>
                </a:solidFill>
              </a:defRPr>
            </a:pPr>
            <a:r>
              <a:rPr sz="3300" b="0">
                <a:solidFill>
                  <a:srgbClr val="F4F5F6"/>
                </a:solidFill>
                <a:latin typeface="Arial"/>
                <a:ea typeface="Arial"/>
                <a:cs typeface="Arial"/>
              </a:rPr>
              <a:t>A beginner’s guide to the website code</a:t>
            </a:r>
          </a:p>
        </p:txBody>
      </p:sp>
    </p:spTree>
    <p:extLst>
      <p:ext uri="{BB962C8B-B14F-4D97-AF65-F5344CB8AC3E}">
        <p14:creationId xmlns:p14="http://schemas.microsoft.com/office/powerpoint/2010/main" val="329847309"/>
      </p:ext>
    </p:extLst>
  </p:cSld>
</p:sld>
</file>

<file path=ppt/slides/slide2.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6A7C4D1-383A-4335-A9C3-E6AFACE10185}"/>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browser displays the website</a:t>
            </a:r>
          </a:p>
        </p:txBody>
      </p:sp>
      <p:sp>
        <p:nvSpPr>
          <p:cNvPr id="3" name="point-0">
            <a:extLst xmlns:a="http://schemas.openxmlformats.org/drawingml/2006/main">
              <a:ext uri="{FF2B5EF4-FFF2-40B4-BE49-F238E27FC236}">
                <a16:creationId xmlns:a16="http://schemas.microsoft.com/office/drawing/2014/main" id="{A2956C23-6219-4D98-9107-4A5B6D497F3A}"/>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The browser is the app showing the page, such as Edge or Chrome.</a:t>
            </a:r>
          </a:p>
        </p:txBody>
      </p:sp>
      <p:sp>
        <p:nvSpPr>
          <p:cNvPr id="4" name="point-1">
            <a:extLst xmlns:a="http://schemas.openxmlformats.org/drawingml/2006/main">
              <a:ext uri="{FF2B5EF4-FFF2-40B4-BE49-F238E27FC236}">
                <a16:creationId xmlns:a16="http://schemas.microsoft.com/office/drawing/2014/main" id="{A1035CD1-1698-4243-88E8-1A166BE720AF}"/>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Website files describe what to show and how it behaves.</a:t>
            </a:r>
          </a:p>
        </p:txBody>
      </p:sp>
      <p:sp>
        <p:nvSpPr>
          <p:cNvPr id="5" name="point-2">
            <a:extLst xmlns:a="http://schemas.openxmlformats.org/drawingml/2006/main">
              <a:ext uri="{FF2B5EF4-FFF2-40B4-BE49-F238E27FC236}">
                <a16:creationId xmlns:a16="http://schemas.microsoft.com/office/drawing/2014/main" id="{56F0387F-9624-4F96-9536-57A4CC29948A}"/>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An editor lets us change those files.</a:t>
            </a:r>
          </a:p>
        </p:txBody>
      </p:sp>
      <p:sp>
        <p:nvSpPr>
          <p:cNvPr id="6" name="point-3">
            <a:extLst xmlns:a="http://schemas.openxmlformats.org/drawingml/2006/main">
              <a:ext uri="{FF2B5EF4-FFF2-40B4-BE49-F238E27FC236}">
                <a16:creationId xmlns:a16="http://schemas.microsoft.com/office/drawing/2014/main" id="{6AB49E58-99D7-4E88-93B1-ED6826D8C630}"/>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The browser view and the source files are two views of the same work.</a:t>
            </a:r>
          </a:p>
        </p:txBody>
      </p:sp>
      <p:sp>
        <p:nvSpPr>
          <p:cNvPr id="7" name="page">
            <a:extLst xmlns:a="http://schemas.openxmlformats.org/drawingml/2006/main">
              <a:ext uri="{FF2B5EF4-FFF2-40B4-BE49-F238E27FC236}">
                <a16:creationId xmlns:a16="http://schemas.microsoft.com/office/drawing/2014/main" id="{0903802B-863E-4193-895E-23D256D20D2F}"/>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02</a:t>
            </a:r>
          </a:p>
        </p:txBody>
      </p:sp>
    </p:spTree>
    <p:extLst>
      <p:ext uri="{BB962C8B-B14F-4D97-AF65-F5344CB8AC3E}">
        <p14:creationId xmlns:p14="http://schemas.microsoft.com/office/powerpoint/2010/main" val="1526294504"/>
      </p:ext>
    </p:extLst>
  </p:cSld>
</p:sld>
</file>

<file path=ppt/slides/slide3.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C4014B7-464B-46BA-818A-DC033777057A}"/>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Each kind of code has a job</a:t>
            </a:r>
          </a:p>
        </p:txBody>
      </p:sp>
      <p:sp>
        <p:nvSpPr>
          <p:cNvPr id="3" name="point-0">
            <a:extLst xmlns:a="http://schemas.openxmlformats.org/drawingml/2006/main">
              <a:ext uri="{FF2B5EF4-FFF2-40B4-BE49-F238E27FC236}">
                <a16:creationId xmlns:a16="http://schemas.microsoft.com/office/drawing/2014/main" id="{1BBB9B0A-FD1B-454C-AE4B-C733349697A9}"/>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HTML describes content and structure: a heading, paragraph or link.</a:t>
            </a:r>
          </a:p>
        </p:txBody>
      </p:sp>
      <p:sp>
        <p:nvSpPr>
          <p:cNvPr id="4" name="point-1">
            <a:extLst xmlns:a="http://schemas.openxmlformats.org/drawingml/2006/main">
              <a:ext uri="{FF2B5EF4-FFF2-40B4-BE49-F238E27FC236}">
                <a16:creationId xmlns:a16="http://schemas.microsoft.com/office/drawing/2014/main" id="{B31B7F8C-F34B-4C69-BAAD-F151440EF9B3}"/>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CSS controls appearance: colour, spacing and layout.</a:t>
            </a:r>
          </a:p>
        </p:txBody>
      </p:sp>
      <p:sp>
        <p:nvSpPr>
          <p:cNvPr id="5" name="point-2">
            <a:extLst xmlns:a="http://schemas.openxmlformats.org/drawingml/2006/main">
              <a:ext uri="{FF2B5EF4-FFF2-40B4-BE49-F238E27FC236}">
                <a16:creationId xmlns:a16="http://schemas.microsoft.com/office/drawing/2014/main" id="{BC8DB32B-07D0-416E-B7DD-F4F5103829AD}"/>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JavaScript handles behaviour: clicks, menus and changing content.</a:t>
            </a:r>
          </a:p>
        </p:txBody>
      </p:sp>
      <p:sp>
        <p:nvSpPr>
          <p:cNvPr id="6" name="point-3">
            <a:extLst xmlns:a="http://schemas.openxmlformats.org/drawingml/2006/main">
              <a:ext uri="{FF2B5EF4-FFF2-40B4-BE49-F238E27FC236}">
                <a16:creationId xmlns:a16="http://schemas.microsoft.com/office/drawing/2014/main" id="{0F3518CB-A115-4B7E-BDB7-E897C317B422}"/>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JSON stores information: ride details and photo links.</a:t>
            </a:r>
          </a:p>
        </p:txBody>
      </p:sp>
      <p:sp>
        <p:nvSpPr>
          <p:cNvPr id="7" name="page">
            <a:extLst xmlns:a="http://schemas.openxmlformats.org/drawingml/2006/main">
              <a:ext uri="{FF2B5EF4-FFF2-40B4-BE49-F238E27FC236}">
                <a16:creationId xmlns:a16="http://schemas.microsoft.com/office/drawing/2014/main" id="{47248737-7F22-4B2C-A81F-60E6A5AB5CE8}"/>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03</a:t>
            </a:r>
          </a:p>
        </p:txBody>
      </p:sp>
    </p:spTree>
    <p:extLst>
      <p:ext uri="{BB962C8B-B14F-4D97-AF65-F5344CB8AC3E}">
        <p14:creationId xmlns:p14="http://schemas.microsoft.com/office/powerpoint/2010/main" val="666860928"/>
      </p:ext>
    </p:extLst>
  </p:cSld>
</p:sld>
</file>

<file path=ppt/slides/slide4.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B74AF4B-7887-4266-B09C-6E2DB93CF8C7}"/>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Reading a little HTML</a:t>
            </a:r>
          </a:p>
        </p:txBody>
      </p:sp>
      <p:sp>
        <p:nvSpPr>
          <p:cNvPr id="3" name="code">
            <a:extLst xmlns:a="http://schemas.openxmlformats.org/drawingml/2006/main">
              <a:ext uri="{FF2B5EF4-FFF2-40B4-BE49-F238E27FC236}">
                <a16:creationId xmlns:a16="http://schemas.microsoft.com/office/drawing/2014/main" id="{AD9219E0-51C3-4DAB-B5E3-B008801542C4}"/>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&lt;h2 class="brand-text display-2"&gt;</a:t>
            </a:r>
          </a:p>
          <a:p xmlns:a="http://schemas.openxmlformats.org/drawingml/2006/main">
            <a:pPr>
              <a:defRPr sz="1650" b="0">
                <a:solidFill>
                  <a:srgbClr val="F4F5F6"/>
                </a:solidFill>
              </a:defRPr>
            </a:pPr>
            <a:r>
              <a:rPr sz="1650" b="0">
                <a:solidFill>
                  <a:srgbClr val="F4F5F6"/>
                </a:solidFill>
                <a:latin typeface="Consolas"/>
                <a:ea typeface="Consolas"/>
                <a:cs typeface="Consolas"/>
              </a:rPr>
              <a:t>  Contact Us</a:t>
            </a:r>
          </a:p>
          <a:p xmlns:a="http://schemas.openxmlformats.org/drawingml/2006/main">
            <a:pPr>
              <a:defRPr sz="1650" b="0">
                <a:solidFill>
                  <a:srgbClr val="F4F5F6"/>
                </a:solidFill>
              </a:defRPr>
            </a:pPr>
            <a:r>
              <a:rPr sz="1650" b="0">
                <a:solidFill>
                  <a:srgbClr val="F4F5F6"/>
                </a:solidFill>
                <a:latin typeface="Consolas"/>
                <a:ea typeface="Consolas"/>
                <a:cs typeface="Consolas"/>
              </a:rPr>
              <a:t>&lt;/h2&gt;</a:t>
            </a:r>
          </a:p>
        </p:txBody>
      </p:sp>
      <p:sp>
        <p:nvSpPr>
          <p:cNvPr id="4" name="explain-0">
            <a:extLst xmlns:a="http://schemas.openxmlformats.org/drawingml/2006/main">
              <a:ext uri="{FF2B5EF4-FFF2-40B4-BE49-F238E27FC236}">
                <a16:creationId xmlns:a16="http://schemas.microsoft.com/office/drawing/2014/main" id="{784F0A27-E140-4127-BD3B-3DBFA91ED4F7}"/>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&lt;h2&gt; starts a heading.</a:t>
            </a:r>
          </a:p>
        </p:txBody>
      </p:sp>
      <p:sp>
        <p:nvSpPr>
          <p:cNvPr id="5" name="explain-1">
            <a:extLst xmlns:a="http://schemas.openxmlformats.org/drawingml/2006/main">
              <a:ext uri="{FF2B5EF4-FFF2-40B4-BE49-F238E27FC236}">
                <a16:creationId xmlns:a16="http://schemas.microsoft.com/office/drawing/2014/main" id="{BB09C30B-01C2-46D1-A73C-013631DD4492}"/>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Contact Us is the visible text.</a:t>
            </a:r>
          </a:p>
        </p:txBody>
      </p:sp>
      <p:sp>
        <p:nvSpPr>
          <p:cNvPr id="6" name="explain-2">
            <a:extLst xmlns:a="http://schemas.openxmlformats.org/drawingml/2006/main">
              <a:ext uri="{FF2B5EF4-FFF2-40B4-BE49-F238E27FC236}">
                <a16:creationId xmlns:a16="http://schemas.microsoft.com/office/drawing/2014/main" id="{1175E061-9E99-4E9D-B567-EEFE339ED6F8}"/>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&lt;/h2&gt; ends the heading.</a:t>
            </a:r>
          </a:p>
        </p:txBody>
      </p:sp>
      <p:sp>
        <p:nvSpPr>
          <p:cNvPr id="7" name="explain-3">
            <a:extLst xmlns:a="http://schemas.openxmlformats.org/drawingml/2006/main">
              <a:ext uri="{FF2B5EF4-FFF2-40B4-BE49-F238E27FC236}">
                <a16:creationId xmlns:a16="http://schemas.microsoft.com/office/drawing/2014/main" id="{5055A909-21A4-40F8-88E0-1062D0CAFCEB}"/>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class names connect this element to styling rules.</a:t>
            </a:r>
          </a:p>
        </p:txBody>
      </p:sp>
      <p:sp>
        <p:nvSpPr>
          <p:cNvPr id="8" name="source-caption">
            <a:extLst xmlns:a="http://schemas.openxmlformats.org/drawingml/2006/main">
              <a:ext uri="{FF2B5EF4-FFF2-40B4-BE49-F238E27FC236}">
                <a16:creationId xmlns:a16="http://schemas.microsoft.com/office/drawing/2014/main" id="{3A863517-8D26-44BD-9399-B2FB21D1317B}"/>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Heading from ContactUs.astro, line breaks added for reading</a:t>
            </a:r>
          </a:p>
        </p:txBody>
      </p:sp>
      <p:sp>
        <p:nvSpPr>
          <p:cNvPr id="9" name="page">
            <a:extLst xmlns:a="http://schemas.openxmlformats.org/drawingml/2006/main">
              <a:ext uri="{FF2B5EF4-FFF2-40B4-BE49-F238E27FC236}">
                <a16:creationId xmlns:a16="http://schemas.microsoft.com/office/drawing/2014/main" id="{9649D157-9D21-460E-803C-78FE0C837DED}"/>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04</a:t>
            </a:r>
          </a:p>
        </p:txBody>
      </p:sp>
    </p:spTree>
    <p:extLst>
      <p:ext uri="{BB962C8B-B14F-4D97-AF65-F5344CB8AC3E}">
        <p14:creationId xmlns:p14="http://schemas.microsoft.com/office/powerpoint/2010/main" val="12243195"/>
      </p:ext>
    </p:extLst>
  </p:cSld>
</p:sld>
</file>

<file path=ppt/slides/slide5.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F623BA0-6E26-4C4E-9FC1-B9A00E4A2593}"/>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file endings are clues</a:t>
            </a:r>
          </a:p>
        </p:txBody>
      </p:sp>
      <p:sp>
        <p:nvSpPr>
          <p:cNvPr id="3" name="point-0">
            <a:extLst xmlns:a="http://schemas.openxmlformats.org/drawingml/2006/main">
              <a:ext uri="{FF2B5EF4-FFF2-40B4-BE49-F238E27FC236}">
                <a16:creationId xmlns:a16="http://schemas.microsoft.com/office/drawing/2014/main" id="{85C628AF-E6EC-4E5F-BF57-6D9117E67731}"/>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.astro   A page, a section or the shared layout</a:t>
            </a:r>
          </a:p>
        </p:txBody>
      </p:sp>
      <p:sp>
        <p:nvSpPr>
          <p:cNvPr id="4" name="point-1">
            <a:extLst xmlns:a="http://schemas.openxmlformats.org/drawingml/2006/main">
              <a:ext uri="{FF2B5EF4-FFF2-40B4-BE49-F238E27FC236}">
                <a16:creationId xmlns:a16="http://schemas.microsoft.com/office/drawing/2014/main" id="{BF78F511-9F5D-401F-8504-AE9FBD7A4C2D}"/>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 .scss   Styling rules, using the Sass format</a:t>
            </a:r>
          </a:p>
        </p:txBody>
      </p:sp>
      <p:sp>
        <p:nvSpPr>
          <p:cNvPr id="5" name="point-2">
            <a:extLst xmlns:a="http://schemas.openxmlformats.org/drawingml/2006/main">
              <a:ext uri="{FF2B5EF4-FFF2-40B4-BE49-F238E27FC236}">
                <a16:creationId xmlns:a16="http://schemas.microsoft.com/office/drawing/2014/main" id="{D5AD0E8E-D5D2-4EA3-812B-210AE35F3E1B}"/>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 .js / .ts   Behaviour and helper functions</a:t>
            </a:r>
          </a:p>
        </p:txBody>
      </p:sp>
      <p:sp>
        <p:nvSpPr>
          <p:cNvPr id="6" name="point-3">
            <a:extLst xmlns:a="http://schemas.openxmlformats.org/drawingml/2006/main">
              <a:ext uri="{FF2B5EF4-FFF2-40B4-BE49-F238E27FC236}">
                <a16:creationId xmlns:a16="http://schemas.microsoft.com/office/drawing/2014/main" id="{50F60DAF-60DD-4B7E-AFFB-0815C91A3534}"/>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 .json   Structured information</a:t>
            </a:r>
          </a:p>
        </p:txBody>
      </p:sp>
      <p:sp>
        <p:nvSpPr>
          <p:cNvPr id="7" name="point-4">
            <a:extLst xmlns:a="http://schemas.openxmlformats.org/drawingml/2006/main">
              <a:ext uri="{FF2B5EF4-FFF2-40B4-BE49-F238E27FC236}">
                <a16:creationId xmlns:a16="http://schemas.microsoft.com/office/drawing/2014/main" id="{FB27D3CA-4377-410F-8421-3D0D5AE49820}"/>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 .jpg / .png   Image files</a:t>
            </a:r>
          </a:p>
        </p:txBody>
      </p:sp>
      <p:sp>
        <p:nvSpPr>
          <p:cNvPr id="8" name="page">
            <a:extLst xmlns:a="http://schemas.openxmlformats.org/drawingml/2006/main">
              <a:ext uri="{FF2B5EF4-FFF2-40B4-BE49-F238E27FC236}">
                <a16:creationId xmlns:a16="http://schemas.microsoft.com/office/drawing/2014/main" id="{2CDB6CA0-4947-4D26-BC68-2846D73D940B}"/>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05</a:t>
            </a:r>
          </a:p>
        </p:txBody>
      </p:sp>
    </p:spTree>
    <p:extLst>
      <p:ext uri="{BB962C8B-B14F-4D97-AF65-F5344CB8AC3E}">
        <p14:creationId xmlns:p14="http://schemas.microsoft.com/office/powerpoint/2010/main" val="354958948"/>
      </p:ext>
    </p:extLst>
  </p:cSld>
</p:sld>
</file>

<file path=ppt/slides/slide6.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D7F0B69-6A34-406A-B38B-B14BA0CAE1E2}"/>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folders you will use</a:t>
            </a:r>
          </a:p>
        </p:txBody>
      </p:sp>
      <p:sp>
        <p:nvSpPr>
          <p:cNvPr id="3" name="code">
            <a:extLst xmlns:a="http://schemas.openxmlformats.org/drawingml/2006/main">
              <a:ext uri="{FF2B5EF4-FFF2-40B4-BE49-F238E27FC236}">
                <a16:creationId xmlns:a16="http://schemas.microsoft.com/office/drawing/2014/main" id="{CBBCBEC1-5419-4553-A18E-6E87CC1A6844}"/>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astro-prototype/</a:t>
            </a:r>
          </a:p>
          <a:p xmlns:a="http://schemas.openxmlformats.org/drawingml/2006/main">
            <a:pPr>
              <a:defRPr sz="1650" b="0">
                <a:solidFill>
                  <a:srgbClr val="F4F5F6"/>
                </a:solidFill>
              </a:defRPr>
            </a:pPr>
            <a:r>
              <a:rPr sz="1650" b="0">
                <a:solidFill>
                  <a:srgbClr val="F4F5F6"/>
                </a:solidFill>
                <a:latin typeface="Consolas"/>
                <a:ea typeface="Consolas"/>
                <a:cs typeface="Consolas"/>
              </a:rPr>
              <a:t>  src/pages/</a:t>
            </a:r>
          </a:p>
          <a:p xmlns:a="http://schemas.openxmlformats.org/drawingml/2006/main">
            <a:pPr>
              <a:defRPr sz="1650" b="0">
                <a:solidFill>
                  <a:srgbClr val="F4F5F6"/>
                </a:solidFill>
              </a:defRPr>
            </a:pPr>
            <a:r>
              <a:rPr sz="1650" b="0">
                <a:solidFill>
                  <a:srgbClr val="F4F5F6"/>
                </a:solidFill>
                <a:latin typeface="Consolas"/>
                <a:ea typeface="Consolas"/>
                <a:cs typeface="Consolas"/>
              </a:rPr>
              <a:t>  src/layouts/</a:t>
            </a:r>
          </a:p>
          <a:p xmlns:a="http://schemas.openxmlformats.org/drawingml/2006/main">
            <a:pPr>
              <a:defRPr sz="1650" b="0">
                <a:solidFill>
                  <a:srgbClr val="F4F5F6"/>
                </a:solidFill>
              </a:defRPr>
            </a:pPr>
            <a:r>
              <a:rPr sz="1650" b="0">
                <a:solidFill>
                  <a:srgbClr val="F4F5F6"/>
                </a:solidFill>
                <a:latin typeface="Consolas"/>
                <a:ea typeface="Consolas"/>
                <a:cs typeface="Consolas"/>
              </a:rPr>
              <a:t>  src/components/</a:t>
            </a:r>
          </a:p>
          <a:p xmlns:a="http://schemas.openxmlformats.org/drawingml/2006/main">
            <a:pPr>
              <a:defRPr sz="1650" b="0">
                <a:solidFill>
                  <a:srgbClr val="F4F5F6"/>
                </a:solidFill>
              </a:defRPr>
            </a:pPr>
            <a:r>
              <a:rPr sz="1650" b="0">
                <a:solidFill>
                  <a:srgbClr val="F4F5F6"/>
                </a:solidFill>
                <a:latin typeface="Consolas"/>
                <a:ea typeface="Consolas"/>
                <a:cs typeface="Consolas"/>
              </a:rPr>
              <a:t>  src/scss/</a:t>
            </a:r>
          </a:p>
          <a:p xmlns:a="http://schemas.openxmlformats.org/drawingml/2006/main">
            <a:pPr>
              <a:defRPr sz="1650" b="0">
                <a:solidFill>
                  <a:srgbClr val="F4F5F6"/>
                </a:solidFill>
              </a:defRPr>
            </a:pPr>
            <a:r>
              <a:rPr sz="1650" b="0">
                <a:solidFill>
                  <a:srgbClr val="F4F5F6"/>
                </a:solidFill>
                <a:latin typeface="Consolas"/>
                <a:ea typeface="Consolas"/>
                <a:cs typeface="Consolas"/>
              </a:rPr>
              <a:t>  src/js/ and src/scripts/</a:t>
            </a:r>
          </a:p>
          <a:p xmlns:a="http://schemas.openxmlformats.org/drawingml/2006/main">
            <a:pPr>
              <a:defRPr sz="1650" b="0">
                <a:solidFill>
                  <a:srgbClr val="F4F5F6"/>
                </a:solidFill>
              </a:defRPr>
            </a:pPr>
            <a:r>
              <a:rPr sz="1650" b="0">
                <a:solidFill>
                  <a:srgbClr val="F4F5F6"/>
                </a:solidFill>
                <a:latin typeface="Consolas"/>
                <a:ea typeface="Consolas"/>
                <a:cs typeface="Consolas"/>
              </a:rPr>
              <a:t>  src/lib/</a:t>
            </a:r>
          </a:p>
          <a:p xmlns:a="http://schemas.openxmlformats.org/drawingml/2006/main">
            <a:pPr>
              <a:defRPr sz="1650" b="0">
                <a:solidFill>
                  <a:srgbClr val="F4F5F6"/>
                </a:solidFill>
              </a:defRPr>
            </a:pPr>
            <a:r>
              <a:rPr sz="1650" b="0">
                <a:solidFill>
                  <a:srgbClr val="F4F5F6"/>
                </a:solidFill>
                <a:latin typeface="Consolas"/>
                <a:ea typeface="Consolas"/>
                <a:cs typeface="Consolas"/>
              </a:rPr>
              <a:t>  public/data/</a:t>
            </a:r>
          </a:p>
          <a:p xmlns:a="http://schemas.openxmlformats.org/drawingml/2006/main">
            <a:pPr>
              <a:defRPr sz="1650" b="0">
                <a:solidFill>
                  <a:srgbClr val="F4F5F6"/>
                </a:solidFill>
              </a:defRPr>
            </a:pPr>
            <a:r>
              <a:rPr sz="1650" b="0">
                <a:solidFill>
                  <a:srgbClr val="F4F5F6"/>
                </a:solidFill>
                <a:latin typeface="Consolas"/>
                <a:ea typeface="Consolas"/>
                <a:cs typeface="Consolas"/>
              </a:rPr>
              <a:t>  public/img/</a:t>
            </a:r>
          </a:p>
        </p:txBody>
      </p:sp>
      <p:sp>
        <p:nvSpPr>
          <p:cNvPr id="4" name="explain-0">
            <a:extLst xmlns:a="http://schemas.openxmlformats.org/drawingml/2006/main">
              <a:ext uri="{FF2B5EF4-FFF2-40B4-BE49-F238E27FC236}">
                <a16:creationId xmlns:a16="http://schemas.microsoft.com/office/drawing/2014/main" id="{BC87E187-309C-4745-A930-CDAC8363C3F2}"/>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pages and layouts assemble the page.</a:t>
            </a:r>
          </a:p>
        </p:txBody>
      </p:sp>
      <p:sp>
        <p:nvSpPr>
          <p:cNvPr id="5" name="explain-1">
            <a:extLst xmlns:a="http://schemas.openxmlformats.org/drawingml/2006/main">
              <a:ext uri="{FF2B5EF4-FFF2-40B4-BE49-F238E27FC236}">
                <a16:creationId xmlns:a16="http://schemas.microsoft.com/office/drawing/2014/main" id="{56663991-4417-4CC2-AD77-EE33C9A4B488}"/>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components holds the visible sections.</a:t>
            </a:r>
          </a:p>
        </p:txBody>
      </p:sp>
      <p:sp>
        <p:nvSpPr>
          <p:cNvPr id="6" name="explain-2">
            <a:extLst xmlns:a="http://schemas.openxmlformats.org/drawingml/2006/main">
              <a:ext uri="{FF2B5EF4-FFF2-40B4-BE49-F238E27FC236}">
                <a16:creationId xmlns:a16="http://schemas.microsoft.com/office/drawing/2014/main" id="{0FA87622-1B0A-4472-9956-6BD3F1035C3E}"/>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scss, scripts and lib control appearance and behaviour.</a:t>
            </a:r>
          </a:p>
        </p:txBody>
      </p:sp>
      <p:sp>
        <p:nvSpPr>
          <p:cNvPr id="7" name="explain-3">
            <a:extLst xmlns:a="http://schemas.openxmlformats.org/drawingml/2006/main">
              <a:ext uri="{FF2B5EF4-FFF2-40B4-BE49-F238E27FC236}">
                <a16:creationId xmlns:a16="http://schemas.microsoft.com/office/drawing/2014/main" id="{949E1B69-E9A1-4C90-B002-61DA1F87095C}"/>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public holds data files and images.</a:t>
            </a:r>
          </a:p>
        </p:txBody>
      </p:sp>
      <p:sp>
        <p:nvSpPr>
          <p:cNvPr id="8" name="source-caption">
            <a:extLst xmlns:a="http://schemas.openxmlformats.org/drawingml/2006/main">
              <a:ext uri="{FF2B5EF4-FFF2-40B4-BE49-F238E27FC236}">
                <a16:creationId xmlns:a16="http://schemas.microsoft.com/office/drawing/2014/main" id="{BADACC6B-7514-4125-9DE7-53E35BCEDA0B}"/>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All paths in this walkthrough start inside astro-prototype/</a:t>
            </a:r>
          </a:p>
        </p:txBody>
      </p:sp>
      <p:sp>
        <p:nvSpPr>
          <p:cNvPr id="9" name="page">
            <a:extLst xmlns:a="http://schemas.openxmlformats.org/drawingml/2006/main">
              <a:ext uri="{FF2B5EF4-FFF2-40B4-BE49-F238E27FC236}">
                <a16:creationId xmlns:a16="http://schemas.microsoft.com/office/drawing/2014/main" id="{D6114E04-0E40-43F7-91DB-04D49AB57856}"/>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06</a:t>
            </a:r>
          </a:p>
        </p:txBody>
      </p:sp>
    </p:spTree>
    <p:extLst>
      <p:ext uri="{BB962C8B-B14F-4D97-AF65-F5344CB8AC3E}">
        <p14:creationId xmlns:p14="http://schemas.microsoft.com/office/powerpoint/2010/main" val="2080031707"/>
      </p:ext>
    </p:extLst>
  </p:cSld>
</p:sld>
</file>

<file path=ppt/slides/slide7.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55996C8-5177-4288-84AC-C29AE87C20C0}"/>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homepage sets the section order</a:t>
            </a:r>
          </a:p>
        </p:txBody>
      </p:sp>
      <p:sp>
        <p:nvSpPr>
          <p:cNvPr id="3" name="code">
            <a:extLst xmlns:a="http://schemas.openxmlformats.org/drawingml/2006/main">
              <a:ext uri="{FF2B5EF4-FFF2-40B4-BE49-F238E27FC236}">
                <a16:creationId xmlns:a16="http://schemas.microsoft.com/office/drawing/2014/main" id="{585FA0A1-09F3-46FA-A3BC-29A0F2078740}"/>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&lt;SiteLayout&gt;</a:t>
            </a:r>
          </a:p>
          <a:p xmlns:a="http://schemas.openxmlformats.org/drawingml/2006/main">
            <a:pPr>
              <a:defRPr sz="1650" b="0">
                <a:solidFill>
                  <a:srgbClr val="F4F5F6"/>
                </a:solidFill>
              </a:defRPr>
            </a:pPr>
            <a:r>
              <a:rPr sz="1650" b="0">
                <a:solidFill>
                  <a:srgbClr val="F4F5F6"/>
                </a:solidFill>
                <a:latin typeface="Consolas"/>
                <a:ea typeface="Consolas"/>
                <a:cs typeface="Consolas"/>
              </a:rPr>
              <a:t>  &lt;Navigation /&gt;</a:t>
            </a:r>
          </a:p>
          <a:p xmlns:a="http://schemas.openxmlformats.org/drawingml/2006/main">
            <a:pPr>
              <a:defRPr sz="1650" b="0">
                <a:solidFill>
                  <a:srgbClr val="F4F5F6"/>
                </a:solidFill>
              </a:defRPr>
            </a:pPr>
            <a:r>
              <a:rPr sz="1650" b="0">
                <a:solidFill>
                  <a:srgbClr val="F4F5F6"/>
                </a:solidFill>
                <a:latin typeface="Consolas"/>
                <a:ea typeface="Consolas"/>
                <a:cs typeface="Consolas"/>
              </a:rPr>
              <a:t>  &lt;Hero /&gt;</a:t>
            </a:r>
          </a:p>
          <a:p xmlns:a="http://schemas.openxmlformats.org/drawingml/2006/main">
            <a:pPr>
              <a:defRPr sz="1650" b="0">
                <a:solidFill>
                  <a:srgbClr val="F4F5F6"/>
                </a:solidFill>
              </a:defRPr>
            </a:pPr>
            <a:r>
              <a:rPr sz="1650" b="0">
                <a:solidFill>
                  <a:srgbClr val="F4F5F6"/>
                </a:solidFill>
                <a:latin typeface="Consolas"/>
                <a:ea typeface="Consolas"/>
                <a:cs typeface="Consolas"/>
              </a:rPr>
              <a:t>  &lt;AboutUs /&gt;</a:t>
            </a:r>
          </a:p>
          <a:p xmlns:a="http://schemas.openxmlformats.org/drawingml/2006/main">
            <a:pPr>
              <a:defRPr sz="1650" b="0">
                <a:solidFill>
                  <a:srgbClr val="F4F5F6"/>
                </a:solidFill>
              </a:defRPr>
            </a:pPr>
            <a:r>
              <a:rPr sz="1650" b="0">
                <a:solidFill>
                  <a:srgbClr val="F4F5F6"/>
                </a:solidFill>
                <a:latin typeface="Consolas"/>
                <a:ea typeface="Consolas"/>
                <a:cs typeface="Consolas"/>
              </a:rPr>
              <a:t>  &lt;WhatWeDo /&gt;</a:t>
            </a:r>
          </a:p>
          <a:p xmlns:a="http://schemas.openxmlformats.org/drawingml/2006/main">
            <a:pPr>
              <a:defRPr sz="1650" b="0">
                <a:solidFill>
                  <a:srgbClr val="F4F5F6"/>
                </a:solidFill>
              </a:defRPr>
            </a:pPr>
            <a:r>
              <a:rPr sz="1650" b="0">
                <a:solidFill>
                  <a:srgbClr val="F4F5F6"/>
                </a:solidFill>
                <a:latin typeface="Consolas"/>
                <a:ea typeface="Consolas"/>
                <a:cs typeface="Consolas"/>
              </a:rPr>
              <a:t>  &lt;WhereToNext /&gt;</a:t>
            </a:r>
          </a:p>
          <a:p xmlns:a="http://schemas.openxmlformats.org/drawingml/2006/main">
            <a:pPr>
              <a:defRPr sz="1650" b="0">
                <a:solidFill>
                  <a:srgbClr val="F4F5F6"/>
                </a:solidFill>
              </a:defRPr>
            </a:pPr>
            <a:r>
              <a:rPr sz="1650" b="0">
                <a:solidFill>
                  <a:srgbClr val="F4F5F6"/>
                </a:solidFill>
                <a:latin typeface="Consolas"/>
                <a:ea typeface="Consolas"/>
                <a:cs typeface="Consolas"/>
              </a:rPr>
              <a:t>  ...</a:t>
            </a:r>
          </a:p>
          <a:p xmlns:a="http://schemas.openxmlformats.org/drawingml/2006/main">
            <a:pPr>
              <a:defRPr sz="1650" b="0">
                <a:solidFill>
                  <a:srgbClr val="F4F5F6"/>
                </a:solidFill>
              </a:defRPr>
            </a:pPr>
            <a:r>
              <a:rPr sz="1650" b="0">
                <a:solidFill>
                  <a:srgbClr val="F4F5F6"/>
                </a:solidFill>
                <a:latin typeface="Consolas"/>
                <a:ea typeface="Consolas"/>
                <a:cs typeface="Consolas"/>
              </a:rPr>
              <a:t>  &lt;Footer /&gt;</a:t>
            </a:r>
          </a:p>
          <a:p xmlns:a="http://schemas.openxmlformats.org/drawingml/2006/main">
            <a:pPr>
              <a:defRPr sz="1650" b="0">
                <a:solidFill>
                  <a:srgbClr val="F4F5F6"/>
                </a:solidFill>
              </a:defRPr>
            </a:pPr>
            <a:r>
              <a:rPr sz="1650" b="0">
                <a:solidFill>
                  <a:srgbClr val="F4F5F6"/>
                </a:solidFill>
                <a:latin typeface="Consolas"/>
                <a:ea typeface="Consolas"/>
                <a:cs typeface="Consolas"/>
              </a:rPr>
              <a:t>&lt;/SiteLayout&gt;</a:t>
            </a:r>
          </a:p>
        </p:txBody>
      </p:sp>
      <p:sp>
        <p:nvSpPr>
          <p:cNvPr id="4" name="explain-0">
            <a:extLst xmlns:a="http://schemas.openxmlformats.org/drawingml/2006/main">
              <a:ext uri="{FF2B5EF4-FFF2-40B4-BE49-F238E27FC236}">
                <a16:creationId xmlns:a16="http://schemas.microsoft.com/office/drawing/2014/main" id="{67CB821F-D12F-4C79-B9BB-BDA8F3A340F9}"/>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index.astro is the homepage file.</a:t>
            </a:r>
          </a:p>
        </p:txBody>
      </p:sp>
      <p:sp>
        <p:nvSpPr>
          <p:cNvPr id="5" name="explain-1">
            <a:extLst xmlns:a="http://schemas.openxmlformats.org/drawingml/2006/main">
              <a:ext uri="{FF2B5EF4-FFF2-40B4-BE49-F238E27FC236}">
                <a16:creationId xmlns:a16="http://schemas.microsoft.com/office/drawing/2014/main" id="{A1C627A3-0211-443A-A66C-A627D23D3AC2}"/>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Each named component adds a section.</a:t>
            </a:r>
          </a:p>
        </p:txBody>
      </p:sp>
      <p:sp>
        <p:nvSpPr>
          <p:cNvPr id="6" name="explain-2">
            <a:extLst xmlns:a="http://schemas.openxmlformats.org/drawingml/2006/main">
              <a:ext uri="{FF2B5EF4-FFF2-40B4-BE49-F238E27FC236}">
                <a16:creationId xmlns:a16="http://schemas.microsoft.com/office/drawing/2014/main" id="{AB321E75-AAF0-4FB9-A28D-A97C153551A9}"/>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order here matches the page order.</a:t>
            </a:r>
          </a:p>
        </p:txBody>
      </p:sp>
      <p:sp>
        <p:nvSpPr>
          <p:cNvPr id="7" name="explain-3">
            <a:extLst xmlns:a="http://schemas.openxmlformats.org/drawingml/2006/main">
              <a:ext uri="{FF2B5EF4-FFF2-40B4-BE49-F238E27FC236}">
                <a16:creationId xmlns:a16="http://schemas.microsoft.com/office/drawing/2014/main" id="{7E941F50-59F2-4607-8E06-058F17F77352}"/>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import lines tell Astro where those components live.</a:t>
            </a:r>
          </a:p>
        </p:txBody>
      </p:sp>
      <p:sp>
        <p:nvSpPr>
          <p:cNvPr id="8" name="source-caption">
            <a:extLst xmlns:a="http://schemas.openxmlformats.org/drawingml/2006/main">
              <a:ext uri="{FF2B5EF4-FFF2-40B4-BE49-F238E27FC236}">
                <a16:creationId xmlns:a16="http://schemas.microsoft.com/office/drawing/2014/main" id="{3CE9B416-91FB-4215-9148-3329ECFC501F}"/>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Shortened excerpt from src/pages/index.astro; ... marks omitted sections</a:t>
            </a:r>
          </a:p>
        </p:txBody>
      </p:sp>
      <p:sp>
        <p:nvSpPr>
          <p:cNvPr id="9" name="page">
            <a:extLst xmlns:a="http://schemas.openxmlformats.org/drawingml/2006/main">
              <a:ext uri="{FF2B5EF4-FFF2-40B4-BE49-F238E27FC236}">
                <a16:creationId xmlns:a16="http://schemas.microsoft.com/office/drawing/2014/main" id="{7E212168-9F4D-42F5-ADA8-5D5DEEC64970}"/>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07</a:t>
            </a:r>
          </a:p>
        </p:txBody>
      </p:sp>
    </p:spTree>
    <p:extLst>
      <p:ext uri="{BB962C8B-B14F-4D97-AF65-F5344CB8AC3E}">
        <p14:creationId xmlns:p14="http://schemas.microsoft.com/office/powerpoint/2010/main" val="1594656354"/>
      </p:ext>
    </p:extLst>
  </p:cSld>
</p:sld>
</file>

<file path=ppt/slides/slide8.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5573350-0F4F-4F6D-AE44-2E02A5A98FEE}"/>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layout wraps the sections</a:t>
            </a:r>
          </a:p>
        </p:txBody>
      </p:sp>
      <p:sp>
        <p:nvSpPr>
          <p:cNvPr id="3" name="code">
            <a:extLst xmlns:a="http://schemas.openxmlformats.org/drawingml/2006/main">
              <a:ext uri="{FF2B5EF4-FFF2-40B4-BE49-F238E27FC236}">
                <a16:creationId xmlns:a16="http://schemas.microsoft.com/office/drawing/2014/main" id="{36403EED-2B0E-436C-83FD-8445720AC418}"/>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&lt;body data-bs-theme="dark"&gt;</a:t>
            </a:r>
          </a:p>
          <a:p xmlns:a="http://schemas.openxmlformats.org/drawingml/2006/main">
            <a:pPr>
              <a:defRPr sz="1650" b="0">
                <a:solidFill>
                  <a:srgbClr val="F4F5F6"/>
                </a:solidFill>
              </a:defRPr>
            </a:pPr>
            <a:r>
              <a:rPr sz="1650" b="0">
                <a:solidFill>
                  <a:srgbClr val="F4F5F6"/>
                </a:solidFill>
                <a:latin typeface="Consolas"/>
                <a:ea typeface="Consolas"/>
                <a:cs typeface="Consolas"/>
              </a:rPr>
              <a:t>  &lt;slot /&gt;</a:t>
            </a:r>
          </a:p>
          <a:p xmlns:a="http://schemas.openxmlformats.org/drawingml/2006/main">
            <a:pPr>
              <a:defRPr sz="1650" b="0">
                <a:solidFill>
                  <a:srgbClr val="F4F5F6"/>
                </a:solidFill>
              </a:defRPr>
            </a:pPr>
            <a:r>
              <a:rPr sz="1650" b="0">
                <a:solidFill>
                  <a:srgbClr val="F4F5F6"/>
                </a:solidFill>
                <a:latin typeface="Consolas"/>
                <a:ea typeface="Consolas"/>
                <a:cs typeface="Consolas"/>
              </a:rPr>
              <a:t>  &lt;script src="../scripts/site.ts"&gt;&lt;/script&gt;</a:t>
            </a:r>
          </a:p>
          <a:p xmlns:a="http://schemas.openxmlformats.org/drawingml/2006/main">
            <a:pPr>
              <a:defRPr sz="1650" b="0">
                <a:solidFill>
                  <a:srgbClr val="F4F5F6"/>
                </a:solidFill>
              </a:defRPr>
            </a:pPr>
            <a:r>
              <a:rPr sz="1650" b="0">
                <a:solidFill>
                  <a:srgbClr val="F4F5F6"/>
                </a:solidFill>
                <a:latin typeface="Consolas"/>
                <a:ea typeface="Consolas"/>
                <a:cs typeface="Consolas"/>
              </a:rPr>
              <a:t>&lt;/body&gt;</a:t>
            </a:r>
          </a:p>
        </p:txBody>
      </p:sp>
      <p:sp>
        <p:nvSpPr>
          <p:cNvPr id="4" name="explain-0">
            <a:extLst xmlns:a="http://schemas.openxmlformats.org/drawingml/2006/main">
              <a:ext uri="{FF2B5EF4-FFF2-40B4-BE49-F238E27FC236}">
                <a16:creationId xmlns:a16="http://schemas.microsoft.com/office/drawing/2014/main" id="{693AD85C-B60F-40D3-90C2-B3CD8580AB93}"/>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SiteLayout.astro supplies the shared page wrapper.</a:t>
            </a:r>
          </a:p>
        </p:txBody>
      </p:sp>
      <p:sp>
        <p:nvSpPr>
          <p:cNvPr id="5" name="explain-1">
            <a:extLst xmlns:a="http://schemas.openxmlformats.org/drawingml/2006/main">
              <a:ext uri="{FF2B5EF4-FFF2-40B4-BE49-F238E27FC236}">
                <a16:creationId xmlns:a16="http://schemas.microsoft.com/office/drawing/2014/main" id="{CB983CE9-C5DD-45CC-BBFB-14CD4D7ABC8E}"/>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&lt;slot /&gt; marks where the homepage sections go.</a:t>
            </a:r>
          </a:p>
        </p:txBody>
      </p:sp>
      <p:sp>
        <p:nvSpPr>
          <p:cNvPr id="6" name="explain-2">
            <a:extLst xmlns:a="http://schemas.openxmlformats.org/drawingml/2006/main">
              <a:ext uri="{FF2B5EF4-FFF2-40B4-BE49-F238E27FC236}">
                <a16:creationId xmlns:a16="http://schemas.microsoft.com/office/drawing/2014/main" id="{1734909F-F252-4E90-AAEC-1AD107A65220}"/>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layout also sets the browser title and loads styles.</a:t>
            </a:r>
          </a:p>
        </p:txBody>
      </p:sp>
      <p:sp>
        <p:nvSpPr>
          <p:cNvPr id="7" name="explain-3">
            <a:extLst xmlns:a="http://schemas.openxmlformats.org/drawingml/2006/main">
              <a:ext uri="{FF2B5EF4-FFF2-40B4-BE49-F238E27FC236}">
                <a16:creationId xmlns:a16="http://schemas.microsoft.com/office/drawing/2014/main" id="{55D0C9D5-8CE2-4AC9-AD36-ED1258F4AB8E}"/>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site.ts brings in the main browser interactions.</a:t>
            </a:r>
          </a:p>
        </p:txBody>
      </p:sp>
      <p:sp>
        <p:nvSpPr>
          <p:cNvPr id="8" name="source-caption">
            <a:extLst xmlns:a="http://schemas.openxmlformats.org/drawingml/2006/main">
              <a:ext uri="{FF2B5EF4-FFF2-40B4-BE49-F238E27FC236}">
                <a16:creationId xmlns:a16="http://schemas.microsoft.com/office/drawing/2014/main" id="{AC224725-A678-4E27-B389-500A3AFD9019}"/>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Exact body excerpt from src/layouts/SiteLayout.astro</a:t>
            </a:r>
          </a:p>
        </p:txBody>
      </p:sp>
      <p:sp>
        <p:nvSpPr>
          <p:cNvPr id="9" name="page">
            <a:extLst xmlns:a="http://schemas.openxmlformats.org/drawingml/2006/main">
              <a:ext uri="{FF2B5EF4-FFF2-40B4-BE49-F238E27FC236}">
                <a16:creationId xmlns:a16="http://schemas.microsoft.com/office/drawing/2014/main" id="{0420C715-276C-40F8-80C5-05235716FBD9}"/>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08</a:t>
            </a:r>
          </a:p>
        </p:txBody>
      </p:sp>
    </p:spTree>
    <p:extLst>
      <p:ext uri="{BB962C8B-B14F-4D97-AF65-F5344CB8AC3E}">
        <p14:creationId xmlns:p14="http://schemas.microsoft.com/office/powerpoint/2010/main" val="1249843420"/>
      </p:ext>
    </p:extLst>
  </p:cSld>
</p:sld>
</file>

<file path=ppt/slides/slide9.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4FF6366-49AD-4EC3-AF14-1A04CB7D3BBA}"/>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component names match the page</a:t>
            </a:r>
          </a:p>
        </p:txBody>
      </p:sp>
      <p:sp>
        <p:nvSpPr>
          <p:cNvPr id="3" name="point-0">
            <a:extLst xmlns:a="http://schemas.openxmlformats.org/drawingml/2006/main">
              <a:ext uri="{FF2B5EF4-FFF2-40B4-BE49-F238E27FC236}">
                <a16:creationId xmlns:a16="http://schemas.microsoft.com/office/drawing/2014/main" id="{12F52F8B-A97F-4AEE-A08A-0129F09C0141}"/>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Hero.astro contains the opening welcome text.</a:t>
            </a:r>
          </a:p>
        </p:txBody>
      </p:sp>
      <p:sp>
        <p:nvSpPr>
          <p:cNvPr id="4" name="point-1">
            <a:extLst xmlns:a="http://schemas.openxmlformats.org/drawingml/2006/main">
              <a:ext uri="{FF2B5EF4-FFF2-40B4-BE49-F238E27FC236}">
                <a16:creationId xmlns:a16="http://schemas.microsoft.com/office/drawing/2014/main" id="{538DB3B5-7130-4DA0-A246-10875606EB45}"/>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AboutUs.astro contains the About Us content and carousel.</a:t>
            </a:r>
          </a:p>
        </p:txBody>
      </p:sp>
      <p:sp>
        <p:nvSpPr>
          <p:cNvPr id="5" name="point-2">
            <a:extLst xmlns:a="http://schemas.openxmlformats.org/drawingml/2006/main">
              <a:ext uri="{FF2B5EF4-FFF2-40B4-BE49-F238E27FC236}">
                <a16:creationId xmlns:a16="http://schemas.microsoft.com/office/drawing/2014/main" id="{49A87DC4-5500-48D4-A6D4-4BBE3E6EC9E7}"/>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RideDiary.astro contains regular rides and space for longer rides.</a:t>
            </a:r>
          </a:p>
        </p:txBody>
      </p:sp>
      <p:sp>
        <p:nvSpPr>
          <p:cNvPr id="6" name="point-3">
            <a:extLst xmlns:a="http://schemas.openxmlformats.org/drawingml/2006/main">
              <a:ext uri="{FF2B5EF4-FFF2-40B4-BE49-F238E27FC236}">
                <a16:creationId xmlns:a16="http://schemas.microsoft.com/office/drawing/2014/main" id="{D52FFA7B-F6ED-4678-901F-D79D03451386}"/>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Faq.astro and ContactUs.astro contain those sections.</a:t>
            </a:r>
          </a:p>
        </p:txBody>
      </p:sp>
      <p:sp>
        <p:nvSpPr>
          <p:cNvPr id="7" name="point-4">
            <a:extLst xmlns:a="http://schemas.openxmlformats.org/drawingml/2006/main">
              <a:ext uri="{FF2B5EF4-FFF2-40B4-BE49-F238E27FC236}">
                <a16:creationId xmlns:a16="http://schemas.microsoft.com/office/drawing/2014/main" id="{3A3B988B-6526-4775-8E4F-E6372738BA0B}"/>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Photos.astro works with photo data and a browser script.</a:t>
            </a:r>
          </a:p>
        </p:txBody>
      </p:sp>
      <p:sp>
        <p:nvSpPr>
          <p:cNvPr id="8" name="page">
            <a:extLst xmlns:a="http://schemas.openxmlformats.org/drawingml/2006/main">
              <a:ext uri="{FF2B5EF4-FFF2-40B4-BE49-F238E27FC236}">
                <a16:creationId xmlns:a16="http://schemas.microsoft.com/office/drawing/2014/main" id="{BD9BDBD7-601E-462C-9CD7-A5A8F21C8326}"/>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09</a:t>
            </a:r>
          </a:p>
        </p:txBody>
      </p:sp>
    </p:spTree>
    <p:extLst>
      <p:ext uri="{BB962C8B-B14F-4D97-AF65-F5344CB8AC3E}">
        <p14:creationId xmlns:p14="http://schemas.microsoft.com/office/powerpoint/2010/main" val="2084270545"/>
      </p:ext>
    </p:extLst>
  </p:cSld>
</p:sld>
</file>

<file path=ppt/slides/slide10.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136222B-A06B-40B9-A5C8-9533BDB81098}"/>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A small text edit</a:t>
            </a:r>
          </a:p>
        </p:txBody>
      </p:sp>
      <p:sp>
        <p:nvSpPr>
          <p:cNvPr id="3" name="code">
            <a:extLst xmlns:a="http://schemas.openxmlformats.org/drawingml/2006/main">
              <a:ext uri="{FF2B5EF4-FFF2-40B4-BE49-F238E27FC236}">
                <a16:creationId xmlns:a16="http://schemas.microsoft.com/office/drawing/2014/main" id="{F55832A8-A520-499A-AE05-A78AB0949118}"/>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Before</a:t>
            </a:r>
          </a:p>
          <a:p xmlns:a="http://schemas.openxmlformats.org/drawingml/2006/main">
            <a:pPr>
              <a:defRPr sz="1650" b="0">
                <a:solidFill>
                  <a:srgbClr val="F4F5F6"/>
                </a:solidFill>
              </a:defRPr>
            </a:pPr>
            <a:r>
              <a:rPr sz="1650" b="0">
                <a:solidFill>
                  <a:srgbClr val="F4F5F6"/>
                </a:solidFill>
                <a:latin typeface="Consolas"/>
                <a:ea typeface="Consolas"/>
                <a:cs typeface="Consolas"/>
              </a:rPr>
              <a:t>&lt;p&gt;</a:t>
            </a:r>
          </a:p>
          <a:p xmlns:a="http://schemas.openxmlformats.org/drawingml/2006/main">
            <a:pPr>
              <a:defRPr sz="1650" b="0">
                <a:solidFill>
                  <a:srgbClr val="F4F5F6"/>
                </a:solidFill>
              </a:defRPr>
            </a:pPr>
            <a:r>
              <a:rPr sz="1650" b="0">
                <a:solidFill>
                  <a:srgbClr val="F4F5F6"/>
                </a:solidFill>
                <a:latin typeface="Consolas"/>
                <a:ea typeface="Consolas"/>
                <a:cs typeface="Consolas"/>
              </a:rPr>
              <a:t>  If you join, please introduce yourself to the group.</a:t>
            </a:r>
          </a:p>
          <a:p xmlns:a="http://schemas.openxmlformats.org/drawingml/2006/main">
            <a:pPr>
              <a:defRPr sz="1650" b="0">
                <a:solidFill>
                  <a:srgbClr val="F4F5F6"/>
                </a:solidFill>
              </a:defRPr>
            </a:pPr>
            <a:r>
              <a:rPr sz="1650" b="0">
                <a:solidFill>
                  <a:srgbClr val="F4F5F6"/>
                </a:solidFill>
                <a:latin typeface="Consolas"/>
                <a:ea typeface="Consolas"/>
                <a:cs typeface="Consolas"/>
              </a:rPr>
              <a:t>&lt;/p&gt;</a:t>
            </a:r>
          </a:p>
          <a:p xmlns:a="http://schemas.openxmlformats.org/drawingml/2006/main">
            <a:r>
              <a:t/>
            </a:r>
          </a:p>
          <a:p xmlns:a="http://schemas.openxmlformats.org/drawingml/2006/main">
            <a:pPr>
              <a:defRPr sz="1650" b="0">
                <a:solidFill>
                  <a:srgbClr val="F4F5F6"/>
                </a:solidFill>
              </a:defRPr>
            </a:pPr>
            <a:r>
              <a:rPr sz="1650" b="0">
                <a:solidFill>
                  <a:srgbClr val="F4F5F6"/>
                </a:solidFill>
                <a:latin typeface="Consolas"/>
                <a:ea typeface="Consolas"/>
                <a:cs typeface="Consolas"/>
              </a:rPr>
              <a:t>After</a:t>
            </a:r>
          </a:p>
          <a:p xmlns:a="http://schemas.openxmlformats.org/drawingml/2006/main">
            <a:pPr>
              <a:defRPr sz="1650" b="0">
                <a:solidFill>
                  <a:srgbClr val="F4F5F6"/>
                </a:solidFill>
              </a:defRPr>
            </a:pPr>
            <a:r>
              <a:rPr sz="1650" b="0">
                <a:solidFill>
                  <a:srgbClr val="F4F5F6"/>
                </a:solidFill>
                <a:latin typeface="Consolas"/>
                <a:ea typeface="Consolas"/>
                <a:cs typeface="Consolas"/>
              </a:rPr>
              <a:t>&lt;p&gt;</a:t>
            </a:r>
          </a:p>
          <a:p xmlns:a="http://schemas.openxmlformats.org/drawingml/2006/main">
            <a:pPr>
              <a:defRPr sz="1650" b="0">
                <a:solidFill>
                  <a:srgbClr val="F4F5F6"/>
                </a:solidFill>
              </a:defRPr>
            </a:pPr>
            <a:r>
              <a:rPr sz="1650" b="0">
                <a:solidFill>
                  <a:srgbClr val="F4F5F6"/>
                </a:solidFill>
                <a:latin typeface="Consolas"/>
                <a:ea typeface="Consolas"/>
                <a:cs typeface="Consolas"/>
              </a:rPr>
              <a:t>  Please introduce yourself when you join the group.</a:t>
            </a:r>
          </a:p>
          <a:p xmlns:a="http://schemas.openxmlformats.org/drawingml/2006/main">
            <a:pPr>
              <a:defRPr sz="1650" b="0">
                <a:solidFill>
                  <a:srgbClr val="F4F5F6"/>
                </a:solidFill>
              </a:defRPr>
            </a:pPr>
            <a:r>
              <a:rPr sz="1650" b="0">
                <a:solidFill>
                  <a:srgbClr val="F4F5F6"/>
                </a:solidFill>
                <a:latin typeface="Consolas"/>
                <a:ea typeface="Consolas"/>
                <a:cs typeface="Consolas"/>
              </a:rPr>
              <a:t>&lt;/p&gt;</a:t>
            </a:r>
          </a:p>
        </p:txBody>
      </p:sp>
      <p:sp>
        <p:nvSpPr>
          <p:cNvPr id="4" name="explain-0">
            <a:extLst xmlns:a="http://schemas.openxmlformats.org/drawingml/2006/main">
              <a:ext uri="{FF2B5EF4-FFF2-40B4-BE49-F238E27FC236}">
                <a16:creationId xmlns:a16="http://schemas.microsoft.com/office/drawing/2014/main" id="{A01404D9-9BFD-45EF-84E0-8E894DCE2411}"/>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words between &lt;p&gt; and &lt;/p&gt; form a paragraph.</a:t>
            </a:r>
          </a:p>
        </p:txBody>
      </p:sp>
      <p:sp>
        <p:nvSpPr>
          <p:cNvPr id="5" name="explain-1">
            <a:extLst xmlns:a="http://schemas.openxmlformats.org/drawingml/2006/main">
              <a:ext uri="{FF2B5EF4-FFF2-40B4-BE49-F238E27FC236}">
                <a16:creationId xmlns:a16="http://schemas.microsoft.com/office/drawing/2014/main" id="{5736F2E1-4C6C-4D63-93F0-0D463E448B1F}"/>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Changing those words changes the message.</a:t>
            </a:r>
          </a:p>
        </p:txBody>
      </p:sp>
      <p:sp>
        <p:nvSpPr>
          <p:cNvPr id="6" name="explain-2">
            <a:extLst xmlns:a="http://schemas.openxmlformats.org/drawingml/2006/main">
              <a:ext uri="{FF2B5EF4-FFF2-40B4-BE49-F238E27FC236}">
                <a16:creationId xmlns:a16="http://schemas.microsoft.com/office/drawing/2014/main" id="{871E7521-92B3-483B-B16E-CC21676D9178}"/>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surrounding tags keep the structure.</a:t>
            </a:r>
          </a:p>
        </p:txBody>
      </p:sp>
      <p:sp>
        <p:nvSpPr>
          <p:cNvPr id="7" name="explain-3">
            <a:extLst xmlns:a="http://schemas.openxmlformats.org/drawingml/2006/main">
              <a:ext uri="{FF2B5EF4-FFF2-40B4-BE49-F238E27FC236}">
                <a16:creationId xmlns:a16="http://schemas.microsoft.com/office/drawing/2014/main" id="{E5FB56A0-9F70-48C5-BAD8-DF4614A4735B}"/>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This is a practice example, not an agreed client copy change.</a:t>
            </a:r>
          </a:p>
        </p:txBody>
      </p:sp>
      <p:sp>
        <p:nvSpPr>
          <p:cNvPr id="8" name="source-caption">
            <a:extLst xmlns:a="http://schemas.openxmlformats.org/drawingml/2006/main">
              <a:ext uri="{FF2B5EF4-FFF2-40B4-BE49-F238E27FC236}">
                <a16:creationId xmlns:a16="http://schemas.microsoft.com/office/drawing/2014/main" id="{4C7A5A0B-F526-47F5-BC3B-78556D1E633E}"/>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Original paragraph from src/components/ContactUs.astro</a:t>
            </a:r>
          </a:p>
        </p:txBody>
      </p:sp>
      <p:sp>
        <p:nvSpPr>
          <p:cNvPr id="9" name="page">
            <a:extLst xmlns:a="http://schemas.openxmlformats.org/drawingml/2006/main">
              <a:ext uri="{FF2B5EF4-FFF2-40B4-BE49-F238E27FC236}">
                <a16:creationId xmlns:a16="http://schemas.microsoft.com/office/drawing/2014/main" id="{1A906EFA-2BBE-4463-84A3-FF63230F79C4}"/>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10</a:t>
            </a:r>
          </a:p>
        </p:txBody>
      </p:sp>
    </p:spTree>
    <p:extLst>
      <p:ext uri="{BB962C8B-B14F-4D97-AF65-F5344CB8AC3E}">
        <p14:creationId xmlns:p14="http://schemas.microsoft.com/office/powerpoint/2010/main" val="5995116"/>
      </p:ext>
    </p:extLst>
  </p:cSld>
</p:sld>
</file>

<file path=ppt/slides/slide11.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B38D3E8-6787-4ED3-AC80-48CC5F0B6389}"/>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Links, IDs and classes</a:t>
            </a:r>
          </a:p>
        </p:txBody>
      </p:sp>
      <p:sp>
        <p:nvSpPr>
          <p:cNvPr id="3" name="code">
            <a:extLst xmlns:a="http://schemas.openxmlformats.org/drawingml/2006/main">
              <a:ext uri="{FF2B5EF4-FFF2-40B4-BE49-F238E27FC236}">
                <a16:creationId xmlns:a16="http://schemas.microsoft.com/office/drawing/2014/main" id="{345CAA45-8A55-4880-97BB-8224FE34D54F}"/>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&lt;a href="#contact-us"&gt;Contact Us&lt;/a&gt;</a:t>
            </a:r>
          </a:p>
          <a:p xmlns:a="http://schemas.openxmlformats.org/drawingml/2006/main">
            <a:r>
              <a:t/>
            </a:r>
          </a:p>
          <a:p xmlns:a="http://schemas.openxmlformats.org/drawingml/2006/main">
            <a:pPr>
              <a:defRPr sz="1650" b="0">
                <a:solidFill>
                  <a:srgbClr val="F4F5F6"/>
                </a:solidFill>
              </a:defRPr>
            </a:pPr>
            <a:r>
              <a:rPr sz="1650" b="0">
                <a:solidFill>
                  <a:srgbClr val="F4F5F6"/>
                </a:solidFill>
                <a:latin typeface="Consolas"/>
                <a:ea typeface="Consolas"/>
                <a:cs typeface="Consolas"/>
              </a:rPr>
              <a:t>&lt;section id="contact-us"</a:t>
            </a:r>
          </a:p>
          <a:p xmlns:a="http://schemas.openxmlformats.org/drawingml/2006/main">
            <a:pPr>
              <a:defRPr sz="1650" b="0">
                <a:solidFill>
                  <a:srgbClr val="F4F5F6"/>
                </a:solidFill>
              </a:defRPr>
            </a:pPr>
            <a:r>
              <a:rPr sz="1650" b="0">
                <a:solidFill>
                  <a:srgbClr val="F4F5F6"/>
                </a:solidFill>
                <a:latin typeface="Consolas"/>
                <a:ea typeface="Consolas"/>
                <a:cs typeface="Consolas"/>
              </a:rPr>
              <a:t>         class="even-sections"&gt;</a:t>
            </a:r>
          </a:p>
        </p:txBody>
      </p:sp>
      <p:sp>
        <p:nvSpPr>
          <p:cNvPr id="4" name="explain-0">
            <a:extLst xmlns:a="http://schemas.openxmlformats.org/drawingml/2006/main">
              <a:ext uri="{FF2B5EF4-FFF2-40B4-BE49-F238E27FC236}">
                <a16:creationId xmlns:a16="http://schemas.microsoft.com/office/drawing/2014/main" id="{F04B3924-2928-437C-8B90-A9AD65500687}"/>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href is the destination of a link.</a:t>
            </a:r>
          </a:p>
        </p:txBody>
      </p:sp>
      <p:sp>
        <p:nvSpPr>
          <p:cNvPr id="5" name="explain-1">
            <a:extLst xmlns:a="http://schemas.openxmlformats.org/drawingml/2006/main">
              <a:ext uri="{FF2B5EF4-FFF2-40B4-BE49-F238E27FC236}">
                <a16:creationId xmlns:a16="http://schemas.microsoft.com/office/drawing/2014/main" id="{1ACAA2CB-F51B-431A-8FC6-CD7F23F2E811}"/>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#contact-us points to an ID on this page.</a:t>
            </a:r>
          </a:p>
        </p:txBody>
      </p:sp>
      <p:sp>
        <p:nvSpPr>
          <p:cNvPr id="6" name="explain-2">
            <a:extLst xmlns:a="http://schemas.openxmlformats.org/drawingml/2006/main">
              <a:ext uri="{FF2B5EF4-FFF2-40B4-BE49-F238E27FC236}">
                <a16:creationId xmlns:a16="http://schemas.microsoft.com/office/drawing/2014/main" id="{98AFF723-D069-4521-B552-2E794AF691A7}"/>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An ID names one specific element.</a:t>
            </a:r>
          </a:p>
        </p:txBody>
      </p:sp>
      <p:sp>
        <p:nvSpPr>
          <p:cNvPr id="7" name="explain-3">
            <a:extLst xmlns:a="http://schemas.openxmlformats.org/drawingml/2006/main">
              <a:ext uri="{FF2B5EF4-FFF2-40B4-BE49-F238E27FC236}">
                <a16:creationId xmlns:a16="http://schemas.microsoft.com/office/drawing/2014/main" id="{F9D27151-305A-4D58-B7A0-2C3D9FCA08BA}"/>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A class is a reusable label, often used for styling.</a:t>
            </a:r>
          </a:p>
        </p:txBody>
      </p:sp>
      <p:sp>
        <p:nvSpPr>
          <p:cNvPr id="8" name="source-caption">
            <a:extLst xmlns:a="http://schemas.openxmlformats.org/drawingml/2006/main">
              <a:ext uri="{FF2B5EF4-FFF2-40B4-BE49-F238E27FC236}">
                <a16:creationId xmlns:a16="http://schemas.microsoft.com/office/drawing/2014/main" id="{CE9E4763-E906-48E2-B885-4766C4AA96CA}"/>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Shortened excerpts from Hero.astro and ContactUs.astro</a:t>
            </a:r>
          </a:p>
        </p:txBody>
      </p:sp>
      <p:sp>
        <p:nvSpPr>
          <p:cNvPr id="9" name="page">
            <a:extLst xmlns:a="http://schemas.openxmlformats.org/drawingml/2006/main">
              <a:ext uri="{FF2B5EF4-FFF2-40B4-BE49-F238E27FC236}">
                <a16:creationId xmlns:a16="http://schemas.microsoft.com/office/drawing/2014/main" id="{82E057CA-9EEA-4F1D-BDC3-FAAF0151A117}"/>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11</a:t>
            </a:r>
          </a:p>
        </p:txBody>
      </p:sp>
    </p:spTree>
    <p:extLst>
      <p:ext uri="{BB962C8B-B14F-4D97-AF65-F5344CB8AC3E}">
        <p14:creationId xmlns:p14="http://schemas.microsoft.com/office/powerpoint/2010/main" val="91895026"/>
      </p:ext>
    </p:extLst>
  </p:cSld>
</p:sld>
</file>

<file path=ppt/slides/slide12.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D592B25-E933-45CB-8F2F-D327E3129A1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Images have a file and a description</a:t>
            </a:r>
          </a:p>
        </p:txBody>
      </p:sp>
      <p:sp>
        <p:nvSpPr>
          <p:cNvPr id="3" name="code">
            <a:extLst xmlns:a="http://schemas.openxmlformats.org/drawingml/2006/main">
              <a:ext uri="{FF2B5EF4-FFF2-40B4-BE49-F238E27FC236}">
                <a16:creationId xmlns:a16="http://schemas.microsoft.com/office/drawing/2014/main" id="{BE009D6F-465F-4875-B60F-5CF1F4C0EC6A}"/>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&lt;img src="img/mm-qr-code.jpg"</a:t>
            </a:r>
          </a:p>
          <a:p xmlns:a="http://schemas.openxmlformats.org/drawingml/2006/main">
            <a:pPr>
              <a:defRPr sz="1650" b="0">
                <a:solidFill>
                  <a:srgbClr val="F4F5F6"/>
                </a:solidFill>
              </a:defRPr>
            </a:pPr>
            <a:r>
              <a:rPr sz="1650" b="0">
                <a:solidFill>
                  <a:srgbClr val="F4F5F6"/>
                </a:solidFill>
                <a:latin typeface="Consolas"/>
                <a:ea typeface="Consolas"/>
                <a:cs typeface="Consolas"/>
              </a:rPr>
              <a:t>     class="img-fluid contact-us-qr-code"</a:t>
            </a:r>
          </a:p>
          <a:p xmlns:a="http://schemas.openxmlformats.org/drawingml/2006/main">
            <a:pPr>
              <a:defRPr sz="1650" b="0">
                <a:solidFill>
                  <a:srgbClr val="F4F5F6"/>
                </a:solidFill>
              </a:defRPr>
            </a:pPr>
            <a:r>
              <a:rPr sz="1650" b="0">
                <a:solidFill>
                  <a:srgbClr val="F4F5F6"/>
                </a:solidFill>
                <a:latin typeface="Consolas"/>
                <a:ea typeface="Consolas"/>
                <a:cs typeface="Consolas"/>
              </a:rPr>
              <a:t>     alt="QR Code for WhatsApp Group"&gt;</a:t>
            </a:r>
          </a:p>
        </p:txBody>
      </p:sp>
      <p:sp>
        <p:nvSpPr>
          <p:cNvPr id="4" name="explain-0">
            <a:extLst xmlns:a="http://schemas.openxmlformats.org/drawingml/2006/main">
              <a:ext uri="{FF2B5EF4-FFF2-40B4-BE49-F238E27FC236}">
                <a16:creationId xmlns:a16="http://schemas.microsoft.com/office/drawing/2014/main" id="{244C50D5-FEC5-4D40-9970-CB88CCF238E2}"/>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src points to the image file.</a:t>
            </a:r>
          </a:p>
        </p:txBody>
      </p:sp>
      <p:sp>
        <p:nvSpPr>
          <p:cNvPr id="5" name="explain-1">
            <a:extLst xmlns:a="http://schemas.openxmlformats.org/drawingml/2006/main">
              <a:ext uri="{FF2B5EF4-FFF2-40B4-BE49-F238E27FC236}">
                <a16:creationId xmlns:a16="http://schemas.microsoft.com/office/drawing/2014/main" id="{CBF821AE-0A2E-41B1-B7AA-A03D8C7EFDE1}"/>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This image lives in public/img/mm-qr-code.jpg.</a:t>
            </a:r>
          </a:p>
        </p:txBody>
      </p:sp>
      <p:sp>
        <p:nvSpPr>
          <p:cNvPr id="6" name="explain-2">
            <a:extLst xmlns:a="http://schemas.openxmlformats.org/drawingml/2006/main">
              <a:ext uri="{FF2B5EF4-FFF2-40B4-BE49-F238E27FC236}">
                <a16:creationId xmlns:a16="http://schemas.microsoft.com/office/drawing/2014/main" id="{66C8EDDB-CFF1-4BF2-9FA2-6E04478B77D2}"/>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alt describes the image for people who cannot see it.</a:t>
            </a:r>
          </a:p>
        </p:txBody>
      </p:sp>
      <p:sp>
        <p:nvSpPr>
          <p:cNvPr id="7" name="explain-3">
            <a:extLst xmlns:a="http://schemas.openxmlformats.org/drawingml/2006/main">
              <a:ext uri="{FF2B5EF4-FFF2-40B4-BE49-F238E27FC236}">
                <a16:creationId xmlns:a16="http://schemas.microsoft.com/office/drawing/2014/main" id="{F1178C5A-5C90-41D2-B2E3-9EDC267B662D}"/>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Matching filenames and letter case prevents broken images.</a:t>
            </a:r>
          </a:p>
        </p:txBody>
      </p:sp>
      <p:sp>
        <p:nvSpPr>
          <p:cNvPr id="8" name="source-caption">
            <a:extLst xmlns:a="http://schemas.openxmlformats.org/drawingml/2006/main">
              <a:ext uri="{FF2B5EF4-FFF2-40B4-BE49-F238E27FC236}">
                <a16:creationId xmlns:a16="http://schemas.microsoft.com/office/drawing/2014/main" id="{54009E81-74FD-40F9-A3ED-0003122AA900}"/>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Exact image element, rewrapped, from ContactUs.astro</a:t>
            </a:r>
          </a:p>
        </p:txBody>
      </p:sp>
      <p:sp>
        <p:nvSpPr>
          <p:cNvPr id="9" name="page">
            <a:extLst xmlns:a="http://schemas.openxmlformats.org/drawingml/2006/main">
              <a:ext uri="{FF2B5EF4-FFF2-40B4-BE49-F238E27FC236}">
                <a16:creationId xmlns:a16="http://schemas.microsoft.com/office/drawing/2014/main" id="{6C6F2ED3-DF4B-4EA7-B7F7-926571924151}"/>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12</a:t>
            </a:r>
          </a:p>
        </p:txBody>
      </p:sp>
    </p:spTree>
    <p:extLst>
      <p:ext uri="{BB962C8B-B14F-4D97-AF65-F5344CB8AC3E}">
        <p14:creationId xmlns:p14="http://schemas.microsoft.com/office/powerpoint/2010/main" val="581361742"/>
      </p:ext>
    </p:extLst>
  </p:cSld>
</p:sld>
</file>

<file path=ppt/slides/slide13.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81B3F0E-298A-4429-9DE1-EBF8ED8B5011}"/>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A CSS rule changes appearance</a:t>
            </a:r>
          </a:p>
        </p:txBody>
      </p:sp>
      <p:sp>
        <p:nvSpPr>
          <p:cNvPr id="3" name="code">
            <a:extLst xmlns:a="http://schemas.openxmlformats.org/drawingml/2006/main">
              <a:ext uri="{FF2B5EF4-FFF2-40B4-BE49-F238E27FC236}">
                <a16:creationId xmlns:a16="http://schemas.microsoft.com/office/drawing/2014/main" id="{605B23F3-9E10-46CF-B06E-F26178C4A273}"/>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.brand-text {</a:t>
            </a:r>
          </a:p>
          <a:p xmlns:a="http://schemas.openxmlformats.org/drawingml/2006/main">
            <a:pPr>
              <a:defRPr sz="1650" b="0">
                <a:solidFill>
                  <a:srgbClr val="F4F5F6"/>
                </a:solidFill>
              </a:defRPr>
            </a:pPr>
            <a:r>
              <a:rPr sz="1650" b="0">
                <a:solidFill>
                  <a:srgbClr val="F4F5F6"/>
                </a:solidFill>
                <a:latin typeface="Consolas"/>
                <a:ea typeface="Consolas"/>
                <a:cs typeface="Consolas"/>
              </a:rPr>
              <a:t>  font-family: "Urbanist", sans;</a:t>
            </a:r>
          </a:p>
          <a:p xmlns:a="http://schemas.openxmlformats.org/drawingml/2006/main">
            <a:pPr>
              <a:defRPr sz="1650" b="0">
                <a:solidFill>
                  <a:srgbClr val="F4F5F6"/>
                </a:solidFill>
              </a:defRPr>
            </a:pPr>
            <a:r>
              <a:rPr sz="1650" b="0">
                <a:solidFill>
                  <a:srgbClr val="F4F5F6"/>
                </a:solidFill>
                <a:latin typeface="Consolas"/>
                <a:ea typeface="Consolas"/>
                <a:cs typeface="Consolas"/>
              </a:rPr>
              <a:t>  font-style: italic;</a:t>
            </a:r>
          </a:p>
          <a:p xmlns:a="http://schemas.openxmlformats.org/drawingml/2006/main">
            <a:pPr>
              <a:defRPr sz="1650" b="0">
                <a:solidFill>
                  <a:srgbClr val="F4F5F6"/>
                </a:solidFill>
              </a:defRPr>
            </a:pPr>
            <a:r>
              <a:rPr sz="1650" b="0">
                <a:solidFill>
                  <a:srgbClr val="F4F5F6"/>
                </a:solidFill>
                <a:latin typeface="Consolas"/>
                <a:ea typeface="Consolas"/>
                <a:cs typeface="Consolas"/>
              </a:rPr>
              <a:t>  font-weight: 600;</a:t>
            </a:r>
          </a:p>
          <a:p xmlns:a="http://schemas.openxmlformats.org/drawingml/2006/main">
            <a:pPr>
              <a:defRPr sz="1650" b="0">
                <a:solidFill>
                  <a:srgbClr val="F4F5F6"/>
                </a:solidFill>
              </a:defRPr>
            </a:pPr>
            <a:r>
              <a:rPr sz="1650" b="0">
                <a:solidFill>
                  <a:srgbClr val="F4F5F6"/>
                </a:solidFill>
                <a:latin typeface="Consolas"/>
                <a:ea typeface="Consolas"/>
                <a:cs typeface="Consolas"/>
              </a:rPr>
              <a:t>  color: var(--bs-warning);</a:t>
            </a:r>
          </a:p>
          <a:p xmlns:a="http://schemas.openxmlformats.org/drawingml/2006/main">
            <a:pPr>
              <a:defRPr sz="1650" b="0">
                <a:solidFill>
                  <a:srgbClr val="F4F5F6"/>
                </a:solidFill>
              </a:defRPr>
            </a:pPr>
            <a:r>
              <a:rPr sz="1650" b="0">
                <a:solidFill>
                  <a:srgbClr val="F4F5F6"/>
                </a:solidFill>
                <a:latin typeface="Consolas"/>
                <a:ea typeface="Consolas"/>
                <a:cs typeface="Consolas"/>
              </a:rPr>
              <a:t>}</a:t>
            </a:r>
          </a:p>
        </p:txBody>
      </p:sp>
      <p:sp>
        <p:nvSpPr>
          <p:cNvPr id="4" name="explain-0">
            <a:extLst xmlns:a="http://schemas.openxmlformats.org/drawingml/2006/main">
              <a:ext uri="{FF2B5EF4-FFF2-40B4-BE49-F238E27FC236}">
                <a16:creationId xmlns:a16="http://schemas.microsoft.com/office/drawing/2014/main" id="{D3A7D45E-FFF0-4650-986F-19BC2B5B5253}"/>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.brand-text selects elements with that class.</a:t>
            </a:r>
          </a:p>
        </p:txBody>
      </p:sp>
      <p:sp>
        <p:nvSpPr>
          <p:cNvPr id="5" name="explain-1">
            <a:extLst xmlns:a="http://schemas.openxmlformats.org/drawingml/2006/main">
              <a:ext uri="{FF2B5EF4-FFF2-40B4-BE49-F238E27FC236}">
                <a16:creationId xmlns:a16="http://schemas.microsoft.com/office/drawing/2014/main" id="{FD874F4D-8D1F-48F3-B9C8-7C44C7160264}"/>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Inside { } are the appearance settings.</a:t>
            </a:r>
          </a:p>
        </p:txBody>
      </p:sp>
      <p:sp>
        <p:nvSpPr>
          <p:cNvPr id="6" name="explain-2">
            <a:extLst xmlns:a="http://schemas.openxmlformats.org/drawingml/2006/main">
              <a:ext uri="{FF2B5EF4-FFF2-40B4-BE49-F238E27FC236}">
                <a16:creationId xmlns:a16="http://schemas.microsoft.com/office/drawing/2014/main" id="{5BAFFB57-3C0A-4D8F-A39F-3E2EC0267A7C}"/>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Each setting has a name, a colon and a value.</a:t>
            </a:r>
          </a:p>
        </p:txBody>
      </p:sp>
      <p:sp>
        <p:nvSpPr>
          <p:cNvPr id="7" name="explain-3">
            <a:extLst xmlns:a="http://schemas.openxmlformats.org/drawingml/2006/main">
              <a:ext uri="{FF2B5EF4-FFF2-40B4-BE49-F238E27FC236}">
                <a16:creationId xmlns:a16="http://schemas.microsoft.com/office/drawing/2014/main" id="{90A6B40B-7DA9-40B8-A3AD-F56EB79DDC2E}"/>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--bs-warning supplies Bootstrap’s warning colour, used as the brand yellow.</a:t>
            </a:r>
          </a:p>
        </p:txBody>
      </p:sp>
      <p:sp>
        <p:nvSpPr>
          <p:cNvPr id="8" name="source-caption">
            <a:extLst xmlns:a="http://schemas.openxmlformats.org/drawingml/2006/main">
              <a:ext uri="{FF2B5EF4-FFF2-40B4-BE49-F238E27FC236}">
                <a16:creationId xmlns:a16="http://schemas.microsoft.com/office/drawing/2014/main" id="{6692B675-5801-4D6B-801C-23A16AF0DDEC}"/>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Exact rule from src/scss/styles.scss</a:t>
            </a:r>
          </a:p>
        </p:txBody>
      </p:sp>
      <p:sp>
        <p:nvSpPr>
          <p:cNvPr id="9" name="page">
            <a:extLst xmlns:a="http://schemas.openxmlformats.org/drawingml/2006/main">
              <a:ext uri="{FF2B5EF4-FFF2-40B4-BE49-F238E27FC236}">
                <a16:creationId xmlns:a16="http://schemas.microsoft.com/office/drawing/2014/main" id="{1827B2A0-DC57-4828-B173-FA89E4DA0DD0}"/>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13</a:t>
            </a:r>
          </a:p>
        </p:txBody>
      </p:sp>
    </p:spTree>
    <p:extLst>
      <p:ext uri="{BB962C8B-B14F-4D97-AF65-F5344CB8AC3E}">
        <p14:creationId xmlns:p14="http://schemas.microsoft.com/office/powerpoint/2010/main" val="1858625681"/>
      </p:ext>
    </p:extLst>
  </p:cSld>
</p:sld>
</file>

<file path=ppt/slides/slide14.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02E337B-AB4C-4959-BCAD-0486B185218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Bootstrap supplies common styles</a:t>
            </a:r>
          </a:p>
        </p:txBody>
      </p:sp>
      <p:sp>
        <p:nvSpPr>
          <p:cNvPr id="3" name="code">
            <a:extLst xmlns:a="http://schemas.openxmlformats.org/drawingml/2006/main">
              <a:ext uri="{FF2B5EF4-FFF2-40B4-BE49-F238E27FC236}">
                <a16:creationId xmlns:a16="http://schemas.microsoft.com/office/drawing/2014/main" id="{8E810902-DA2F-4258-BCC0-10C1963B22E7}"/>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class="btn btn-lg btn-warning"</a:t>
            </a:r>
          </a:p>
          <a:p xmlns:a="http://schemas.openxmlformats.org/drawingml/2006/main">
            <a:r>
              <a:t/>
            </a:r>
          </a:p>
          <a:p xmlns:a="http://schemas.openxmlformats.org/drawingml/2006/main">
            <a:pPr>
              <a:defRPr sz="1650" b="0">
                <a:solidFill>
                  <a:srgbClr val="F4F5F6"/>
                </a:solidFill>
              </a:defRPr>
            </a:pPr>
            <a:r>
              <a:rPr sz="1650" b="0">
                <a:solidFill>
                  <a:srgbClr val="F4F5F6"/>
                </a:solidFill>
                <a:latin typeface="Consolas"/>
                <a:ea typeface="Consolas"/>
                <a:cs typeface="Consolas"/>
              </a:rPr>
              <a:t>class="container"</a:t>
            </a:r>
          </a:p>
          <a:p xmlns:a="http://schemas.openxmlformats.org/drawingml/2006/main">
            <a:r>
              <a:t/>
            </a:r>
          </a:p>
          <a:p xmlns:a="http://schemas.openxmlformats.org/drawingml/2006/main">
            <a:pPr>
              <a:defRPr sz="1650" b="0">
                <a:solidFill>
                  <a:srgbClr val="F4F5F6"/>
                </a:solidFill>
              </a:defRPr>
            </a:pPr>
            <a:r>
              <a:rPr sz="1650" b="0">
                <a:solidFill>
                  <a:srgbClr val="F4F5F6"/>
                </a:solidFill>
                <a:latin typeface="Consolas"/>
                <a:ea typeface="Consolas"/>
                <a:cs typeface="Consolas"/>
              </a:rPr>
              <a:t>class="row"</a:t>
            </a:r>
          </a:p>
          <a:p xmlns:a="http://schemas.openxmlformats.org/drawingml/2006/main">
            <a:pPr>
              <a:defRPr sz="1650" b="0">
                <a:solidFill>
                  <a:srgbClr val="F4F5F6"/>
                </a:solidFill>
              </a:defRPr>
            </a:pPr>
            <a:r>
              <a:rPr sz="1650" b="0">
                <a:solidFill>
                  <a:srgbClr val="F4F5F6"/>
                </a:solidFill>
                <a:latin typeface="Consolas"/>
                <a:ea typeface="Consolas"/>
                <a:cs typeface="Consolas"/>
              </a:rPr>
              <a:t>class="col"</a:t>
            </a:r>
          </a:p>
        </p:txBody>
      </p:sp>
      <p:sp>
        <p:nvSpPr>
          <p:cNvPr id="4" name="explain-0">
            <a:extLst xmlns:a="http://schemas.openxmlformats.org/drawingml/2006/main">
              <a:ext uri="{FF2B5EF4-FFF2-40B4-BE49-F238E27FC236}">
                <a16:creationId xmlns:a16="http://schemas.microsoft.com/office/drawing/2014/main" id="{04B83273-72DC-4ECD-A15F-6AA354FE7C28}"/>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Bootstrap is a collection of ready-made styles and behaviours.</a:t>
            </a:r>
          </a:p>
        </p:txBody>
      </p:sp>
      <p:sp>
        <p:nvSpPr>
          <p:cNvPr id="5" name="explain-1">
            <a:extLst xmlns:a="http://schemas.openxmlformats.org/drawingml/2006/main">
              <a:ext uri="{FF2B5EF4-FFF2-40B4-BE49-F238E27FC236}">
                <a16:creationId xmlns:a16="http://schemas.microsoft.com/office/drawing/2014/main" id="{FE854027-DEA6-4264-9C6A-FA4657FDE9B7}"/>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btn styles a button. btn-lg makes it larger.</a:t>
            </a:r>
          </a:p>
        </p:txBody>
      </p:sp>
      <p:sp>
        <p:nvSpPr>
          <p:cNvPr id="6" name="explain-2">
            <a:extLst xmlns:a="http://schemas.openxmlformats.org/drawingml/2006/main">
              <a:ext uri="{FF2B5EF4-FFF2-40B4-BE49-F238E27FC236}">
                <a16:creationId xmlns:a16="http://schemas.microsoft.com/office/drawing/2014/main" id="{DCF4E163-8BAD-48FE-8C05-9451568E19DE}"/>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container, row and col help arrange content.</a:t>
            </a:r>
          </a:p>
        </p:txBody>
      </p:sp>
      <p:sp>
        <p:nvSpPr>
          <p:cNvPr id="7" name="explain-3">
            <a:extLst xmlns:a="http://schemas.openxmlformats.org/drawingml/2006/main">
              <a:ext uri="{FF2B5EF4-FFF2-40B4-BE49-F238E27FC236}">
                <a16:creationId xmlns:a16="http://schemas.microsoft.com/office/drawing/2014/main" id="{00FD4257-E0A6-4C10-A1E0-7126ACD591F1}"/>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Responsive rules help the layout adapt to screen width.</a:t>
            </a:r>
          </a:p>
        </p:txBody>
      </p:sp>
      <p:sp>
        <p:nvSpPr>
          <p:cNvPr id="8" name="source-caption">
            <a:extLst xmlns:a="http://schemas.openxmlformats.org/drawingml/2006/main">
              <a:ext uri="{FF2B5EF4-FFF2-40B4-BE49-F238E27FC236}">
                <a16:creationId xmlns:a16="http://schemas.microsoft.com/office/drawing/2014/main" id="{AE05960B-377C-41F9-8A5B-71740138D315}"/>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Class examples used across the Astro components</a:t>
            </a:r>
          </a:p>
        </p:txBody>
      </p:sp>
      <p:sp>
        <p:nvSpPr>
          <p:cNvPr id="9" name="page">
            <a:extLst xmlns:a="http://schemas.openxmlformats.org/drawingml/2006/main">
              <a:ext uri="{FF2B5EF4-FFF2-40B4-BE49-F238E27FC236}">
                <a16:creationId xmlns:a16="http://schemas.microsoft.com/office/drawing/2014/main" id="{0EB00A10-4DC4-4ABD-A154-5BA603AB297F}"/>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14</a:t>
            </a:r>
          </a:p>
        </p:txBody>
      </p:sp>
    </p:spTree>
    <p:extLst>
      <p:ext uri="{BB962C8B-B14F-4D97-AF65-F5344CB8AC3E}">
        <p14:creationId xmlns:p14="http://schemas.microsoft.com/office/powerpoint/2010/main" val="1104387354"/>
      </p:ext>
    </p:extLst>
  </p:cSld>
</p:sld>
</file>

<file path=ppt/slides/slide15.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30382D8-CD2A-4991-A9BC-4714863584D3}"/>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Styles can apply at different scales</a:t>
            </a:r>
          </a:p>
        </p:txBody>
      </p:sp>
      <p:sp>
        <p:nvSpPr>
          <p:cNvPr id="3" name="point-0">
            <a:extLst xmlns:a="http://schemas.openxmlformats.org/drawingml/2006/main">
              <a:ext uri="{FF2B5EF4-FFF2-40B4-BE49-F238E27FC236}">
                <a16:creationId xmlns:a16="http://schemas.microsoft.com/office/drawing/2014/main" id="{76C0DF04-910F-4AED-B214-1B91D2CB1EEB}"/>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src/scss/styles.scss loads shared styles and contains global rules.</a:t>
            </a:r>
          </a:p>
        </p:txBody>
      </p:sp>
      <p:sp>
        <p:nvSpPr>
          <p:cNvPr id="4" name="point-1">
            <a:extLst xmlns:a="http://schemas.openxmlformats.org/drawingml/2006/main">
              <a:ext uri="{FF2B5EF4-FFF2-40B4-BE49-F238E27FC236}">
                <a16:creationId xmlns:a16="http://schemas.microsoft.com/office/drawing/2014/main" id="{31991691-0738-4072-85DA-C61A8E8B8E25}"/>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src/scss/base/base.scss sets defaults such as section spacing.</a:t>
            </a:r>
          </a:p>
        </p:txBody>
      </p:sp>
      <p:sp>
        <p:nvSpPr>
          <p:cNvPr id="5" name="point-2">
            <a:extLst xmlns:a="http://schemas.openxmlformats.org/drawingml/2006/main">
              <a:ext uri="{FF2B5EF4-FFF2-40B4-BE49-F238E27FC236}">
                <a16:creationId xmlns:a16="http://schemas.microsoft.com/office/drawing/2014/main" id="{9669067B-7EE8-4D79-A91F-6BF29355FB31}"/>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&lt;style&gt; block in an Astro component usually targets that component.</a:t>
            </a:r>
          </a:p>
        </p:txBody>
      </p:sp>
      <p:sp>
        <p:nvSpPr>
          <p:cNvPr id="6" name="point-3">
            <a:extLst xmlns:a="http://schemas.openxmlformats.org/drawingml/2006/main">
              <a:ext uri="{FF2B5EF4-FFF2-40B4-BE49-F238E27FC236}">
                <a16:creationId xmlns:a16="http://schemas.microsoft.com/office/drawing/2014/main" id="{B24C75CF-E3C3-401C-8C32-61B137A3E46B}"/>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Media queries apply rules at certain screen widths.</a:t>
            </a:r>
          </a:p>
        </p:txBody>
      </p:sp>
      <p:sp>
        <p:nvSpPr>
          <p:cNvPr id="7" name="point-4">
            <a:extLst xmlns:a="http://schemas.openxmlformats.org/drawingml/2006/main">
              <a:ext uri="{FF2B5EF4-FFF2-40B4-BE49-F238E27FC236}">
                <a16:creationId xmlns:a16="http://schemas.microsoft.com/office/drawing/2014/main" id="{0C81C6CD-588D-4EEA-AAE1-D4F346886968}"/>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shared style change needs a check across several sections.</a:t>
            </a:r>
          </a:p>
        </p:txBody>
      </p:sp>
      <p:sp>
        <p:nvSpPr>
          <p:cNvPr id="8" name="page">
            <a:extLst xmlns:a="http://schemas.openxmlformats.org/drawingml/2006/main">
              <a:ext uri="{FF2B5EF4-FFF2-40B4-BE49-F238E27FC236}">
                <a16:creationId xmlns:a16="http://schemas.microsoft.com/office/drawing/2014/main" id="{0DCE80F5-5E42-4FAB-953A-731CC7BF6BA3}"/>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15</a:t>
            </a:r>
          </a:p>
        </p:txBody>
      </p:sp>
    </p:spTree>
    <p:extLst>
      <p:ext uri="{BB962C8B-B14F-4D97-AF65-F5344CB8AC3E}">
        <p14:creationId xmlns:p14="http://schemas.microsoft.com/office/powerpoint/2010/main" val="2133655711"/>
      </p:ext>
    </p:extLst>
  </p:cSld>
</p:sld>
</file>

<file path=ppt/slides/slide16.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2D84CB1-D5E6-4B22-BB26-0894B1D26296}"/>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Pause and check the file choices</a:t>
            </a:r>
          </a:p>
        </p:txBody>
      </p:sp>
      <p:sp>
        <p:nvSpPr>
          <p:cNvPr id="3" name="point-0">
            <a:extLst xmlns:a="http://schemas.openxmlformats.org/drawingml/2006/main">
              <a:ext uri="{FF2B5EF4-FFF2-40B4-BE49-F238E27FC236}">
                <a16:creationId xmlns:a16="http://schemas.microsoft.com/office/drawing/2014/main" id="{B91C0669-680A-4DCD-949B-BC7118F4C108}"/>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contact sentence needs changing. Which file?</a:t>
            </a:r>
          </a:p>
        </p:txBody>
      </p:sp>
      <p:sp>
        <p:nvSpPr>
          <p:cNvPr id="4" name="point-1">
            <a:extLst xmlns:a="http://schemas.openxmlformats.org/drawingml/2006/main">
              <a:ext uri="{FF2B5EF4-FFF2-40B4-BE49-F238E27FC236}">
                <a16:creationId xmlns:a16="http://schemas.microsoft.com/office/drawing/2014/main" id="{D2369686-03D9-4A6F-91AE-7B8A3D2FF006}"/>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shared yellow heading style needs changing. Which file?</a:t>
            </a:r>
          </a:p>
        </p:txBody>
      </p:sp>
      <p:sp>
        <p:nvSpPr>
          <p:cNvPr id="5" name="point-2">
            <a:extLst xmlns:a="http://schemas.openxmlformats.org/drawingml/2006/main">
              <a:ext uri="{FF2B5EF4-FFF2-40B4-BE49-F238E27FC236}">
                <a16:creationId xmlns:a16="http://schemas.microsoft.com/office/drawing/2014/main" id="{462A6D1E-BE78-4DE8-8A61-A36EDDB182BB}"/>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The opening section order needs changing. Which file?</a:t>
            </a:r>
          </a:p>
        </p:txBody>
      </p:sp>
      <p:sp>
        <p:nvSpPr>
          <p:cNvPr id="6" name="point-3">
            <a:extLst xmlns:a="http://schemas.openxmlformats.org/drawingml/2006/main">
              <a:ext uri="{FF2B5EF4-FFF2-40B4-BE49-F238E27FC236}">
                <a16:creationId xmlns:a16="http://schemas.microsoft.com/office/drawing/2014/main" id="{7077D8CB-C8B7-43AD-952C-416A8C2BF50A}"/>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An image is missing. What two things would you compare?</a:t>
            </a:r>
          </a:p>
        </p:txBody>
      </p:sp>
      <p:sp>
        <p:nvSpPr>
          <p:cNvPr id="7" name="page">
            <a:extLst xmlns:a="http://schemas.openxmlformats.org/drawingml/2006/main">
              <a:ext uri="{FF2B5EF4-FFF2-40B4-BE49-F238E27FC236}">
                <a16:creationId xmlns:a16="http://schemas.microsoft.com/office/drawing/2014/main" id="{D579FB73-4D75-4835-8F65-74D68C32D6A9}"/>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16</a:t>
            </a:r>
          </a:p>
        </p:txBody>
      </p:sp>
    </p:spTree>
    <p:extLst>
      <p:ext uri="{BB962C8B-B14F-4D97-AF65-F5344CB8AC3E}">
        <p14:creationId xmlns:p14="http://schemas.microsoft.com/office/powerpoint/2010/main" val="92693878"/>
      </p:ext>
    </p:extLst>
  </p:cSld>
</p:sld>
</file>

<file path=ppt/slides/slide17.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30D594E-1389-4D20-BE19-79F393F279CE}"/>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JSON keeps information in named fields</a:t>
            </a:r>
          </a:p>
        </p:txBody>
      </p:sp>
      <p:sp>
        <p:nvSpPr>
          <p:cNvPr id="3" name="code">
            <a:extLst xmlns:a="http://schemas.openxmlformats.org/drawingml/2006/main">
              <a:ext uri="{FF2B5EF4-FFF2-40B4-BE49-F238E27FC236}">
                <a16:creationId xmlns:a16="http://schemas.microsoft.com/office/drawing/2014/main" id="{92F3A4A6-5799-4CCE-9259-D5BFDDA5A988}"/>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a:t>
            </a:r>
          </a:p>
          <a:p xmlns:a="http://schemas.openxmlformats.org/drawingml/2006/main">
            <a:pPr>
              <a:defRPr sz="1650" b="0">
                <a:solidFill>
                  <a:srgbClr val="F4F5F6"/>
                </a:solidFill>
              </a:defRPr>
            </a:pPr>
            <a:r>
              <a:rPr sz="1650" b="0">
                <a:solidFill>
                  <a:srgbClr val="F4F5F6"/>
                </a:solidFill>
                <a:latin typeface="Consolas"/>
                <a:ea typeface="Consolas"/>
                <a:cs typeface="Consolas"/>
              </a:rPr>
              <a:t>  "title": "Canal Café",</a:t>
            </a:r>
          </a:p>
          <a:p xmlns:a="http://schemas.openxmlformats.org/drawingml/2006/main">
            <a:pPr>
              <a:defRPr sz="1650" b="0">
                <a:solidFill>
                  <a:srgbClr val="F4F5F6"/>
                </a:solidFill>
              </a:defRPr>
            </a:pPr>
            <a:r>
              <a:rPr sz="1650" b="0">
                <a:solidFill>
                  <a:srgbClr val="F4F5F6"/>
                </a:solidFill>
                <a:latin typeface="Consolas"/>
                <a:ea typeface="Consolas"/>
                <a:cs typeface="Consolas"/>
              </a:rPr>
              <a:t>  "distanceMiles": 30,</a:t>
            </a:r>
          </a:p>
          <a:p xmlns:a="http://schemas.openxmlformats.org/drawingml/2006/main">
            <a:pPr>
              <a:defRPr sz="1650" b="0">
                <a:solidFill>
                  <a:srgbClr val="F4F5F6"/>
                </a:solidFill>
              </a:defRPr>
            </a:pPr>
            <a:r>
              <a:rPr sz="1650" b="0">
                <a:solidFill>
                  <a:srgbClr val="F4F5F6"/>
                </a:solidFill>
                <a:latin typeface="Consolas"/>
                <a:ea typeface="Consolas"/>
                <a:cs typeface="Consolas"/>
              </a:rPr>
              <a:t>  "date": null,</a:t>
            </a:r>
          </a:p>
          <a:p xmlns:a="http://schemas.openxmlformats.org/drawingml/2006/main">
            <a:pPr>
              <a:defRPr sz="1650" b="0">
                <a:solidFill>
                  <a:srgbClr val="F4F5F6"/>
                </a:solidFill>
              </a:defRPr>
            </a:pPr>
            <a:r>
              <a:rPr sz="1650" b="0">
                <a:solidFill>
                  <a:srgbClr val="F4F5F6"/>
                </a:solidFill>
                <a:latin typeface="Consolas"/>
                <a:ea typeface="Consolas"/>
                <a:cs typeface="Consolas"/>
              </a:rPr>
              <a:t>  "notes": []</a:t>
            </a:r>
          </a:p>
          <a:p xmlns:a="http://schemas.openxmlformats.org/drawingml/2006/main">
            <a:pPr>
              <a:defRPr sz="1650" b="0">
                <a:solidFill>
                  <a:srgbClr val="F4F5F6"/>
                </a:solidFill>
              </a:defRPr>
            </a:pPr>
            <a:r>
              <a:rPr sz="1650" b="0">
                <a:solidFill>
                  <a:srgbClr val="F4F5F6"/>
                </a:solidFill>
                <a:latin typeface="Consolas"/>
                <a:ea typeface="Consolas"/>
                <a:cs typeface="Consolas"/>
              </a:rPr>
              <a:t>}</a:t>
            </a:r>
          </a:p>
        </p:txBody>
      </p:sp>
      <p:sp>
        <p:nvSpPr>
          <p:cNvPr id="4" name="explain-0">
            <a:extLst xmlns:a="http://schemas.openxmlformats.org/drawingml/2006/main">
              <a:ext uri="{FF2B5EF4-FFF2-40B4-BE49-F238E27FC236}">
                <a16:creationId xmlns:a16="http://schemas.microsoft.com/office/drawing/2014/main" id="{647346F6-FBDE-4509-A6F3-7B3026DC5127}"/>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A field has a name and a value.</a:t>
            </a:r>
          </a:p>
        </p:txBody>
      </p:sp>
      <p:sp>
        <p:nvSpPr>
          <p:cNvPr id="5" name="explain-1">
            <a:extLst xmlns:a="http://schemas.openxmlformats.org/drawingml/2006/main">
              <a:ext uri="{FF2B5EF4-FFF2-40B4-BE49-F238E27FC236}">
                <a16:creationId xmlns:a16="http://schemas.microsoft.com/office/drawing/2014/main" id="{5DFB190C-6EFA-4177-AF19-A9D4F824F4B6}"/>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Text uses double quotes. Numbers do not.</a:t>
            </a:r>
          </a:p>
        </p:txBody>
      </p:sp>
      <p:sp>
        <p:nvSpPr>
          <p:cNvPr id="6" name="explain-2">
            <a:extLst xmlns:a="http://schemas.openxmlformats.org/drawingml/2006/main">
              <a:ext uri="{FF2B5EF4-FFF2-40B4-BE49-F238E27FC236}">
                <a16:creationId xmlns:a16="http://schemas.microsoft.com/office/drawing/2014/main" id="{357C8FE8-D002-4D2B-BF34-EEE01F7663AF}"/>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null means no date is set in this example.</a:t>
            </a:r>
          </a:p>
        </p:txBody>
      </p:sp>
      <p:sp>
        <p:nvSpPr>
          <p:cNvPr id="7" name="explain-3">
            <a:extLst xmlns:a="http://schemas.openxmlformats.org/drawingml/2006/main">
              <a:ext uri="{FF2B5EF4-FFF2-40B4-BE49-F238E27FC236}">
                <a16:creationId xmlns:a16="http://schemas.microsoft.com/office/drawing/2014/main" id="{00199266-C7B6-494A-9ED1-BA96E9037638}"/>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 ] holds a list. An empty list is [].</a:t>
            </a:r>
          </a:p>
        </p:txBody>
      </p:sp>
      <p:sp>
        <p:nvSpPr>
          <p:cNvPr id="8" name="source-caption">
            <a:extLst xmlns:a="http://schemas.openxmlformats.org/drawingml/2006/main">
              <a:ext uri="{FF2B5EF4-FFF2-40B4-BE49-F238E27FC236}">
                <a16:creationId xmlns:a16="http://schemas.microsoft.com/office/drawing/2014/main" id="{D6A3EDCF-2C90-4DC5-A816-1DBC7EBC0F07}"/>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Teaching example only: a fragment, not a complete ride record</a:t>
            </a:r>
          </a:p>
        </p:txBody>
      </p:sp>
      <p:sp>
        <p:nvSpPr>
          <p:cNvPr id="9" name="page">
            <a:extLst xmlns:a="http://schemas.openxmlformats.org/drawingml/2006/main">
              <a:ext uri="{FF2B5EF4-FFF2-40B4-BE49-F238E27FC236}">
                <a16:creationId xmlns:a16="http://schemas.microsoft.com/office/drawing/2014/main" id="{79B8E71D-00E9-4560-BE79-2930E734EB0C}"/>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17</a:t>
            </a:r>
          </a:p>
        </p:txBody>
      </p:sp>
    </p:spTree>
    <p:extLst>
      <p:ext uri="{BB962C8B-B14F-4D97-AF65-F5344CB8AC3E}">
        <p14:creationId xmlns:p14="http://schemas.microsoft.com/office/powerpoint/2010/main" val="708663712"/>
      </p:ext>
    </p:extLst>
  </p:cSld>
</p:sld>
</file>

<file path=ppt/slides/slide18.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FE017F2-B591-410F-89B2-3755D2BA7BC4}"/>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One ride is one record</a:t>
            </a:r>
          </a:p>
        </p:txBody>
      </p:sp>
      <p:sp>
        <p:nvSpPr>
          <p:cNvPr id="3" name="code">
            <a:extLst xmlns:a="http://schemas.openxmlformats.org/drawingml/2006/main">
              <a:ext uri="{FF2B5EF4-FFF2-40B4-BE49-F238E27FC236}">
                <a16:creationId xmlns:a16="http://schemas.microsoft.com/office/drawing/2014/main" id="{F2E0B2C5-B9DC-4CE4-9CE9-4B3E35B9D374}"/>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"id": "war-of-the-worlds-2026-03-14",</a:t>
            </a:r>
          </a:p>
          <a:p xmlns:a="http://schemas.openxmlformats.org/drawingml/2006/main">
            <a:pPr>
              <a:defRPr sz="1650" b="0">
                <a:solidFill>
                  <a:srgbClr val="F4F5F6"/>
                </a:solidFill>
              </a:defRPr>
            </a:pPr>
            <a:r>
              <a:rPr sz="1650" b="0">
                <a:solidFill>
                  <a:srgbClr val="F4F5F6"/>
                </a:solidFill>
                <a:latin typeface="Consolas"/>
                <a:ea typeface="Consolas"/>
                <a:cs typeface="Consolas"/>
              </a:rPr>
              <a:t>"title": "War of the Worlds",</a:t>
            </a:r>
          </a:p>
          <a:p xmlns:a="http://schemas.openxmlformats.org/drawingml/2006/main">
            <a:pPr>
              <a:defRPr sz="1650" b="0">
                <a:solidFill>
                  <a:srgbClr val="F4F5F6"/>
                </a:solidFill>
              </a:defRPr>
            </a:pPr>
            <a:r>
              <a:rPr sz="1650" b="0">
                <a:solidFill>
                  <a:srgbClr val="F4F5F6"/>
                </a:solidFill>
                <a:latin typeface="Consolas"/>
                <a:ea typeface="Consolas"/>
                <a:cs typeface="Consolas"/>
              </a:rPr>
              <a:t>"date": "2026-03-14",</a:t>
            </a:r>
          </a:p>
          <a:p xmlns:a="http://schemas.openxmlformats.org/drawingml/2006/main">
            <a:pPr>
              <a:defRPr sz="1650" b="0">
                <a:solidFill>
                  <a:srgbClr val="F4F5F6"/>
                </a:solidFill>
              </a:defRPr>
            </a:pPr>
            <a:r>
              <a:rPr sz="1650" b="0">
                <a:solidFill>
                  <a:srgbClr val="F4F5F6"/>
                </a:solidFill>
                <a:latin typeface="Consolas"/>
                <a:ea typeface="Consolas"/>
                <a:cs typeface="Consolas"/>
              </a:rPr>
              <a:t>"year": 2026,</a:t>
            </a:r>
          </a:p>
          <a:p xmlns:a="http://schemas.openxmlformats.org/drawingml/2006/main">
            <a:pPr>
              <a:defRPr sz="1650" b="0">
                <a:solidFill>
                  <a:srgbClr val="F4F5F6"/>
                </a:solidFill>
              </a:defRPr>
            </a:pPr>
            <a:r>
              <a:rPr sz="1650" b="0">
                <a:solidFill>
                  <a:srgbClr val="F4F5F6"/>
                </a:solidFill>
                <a:latin typeface="Consolas"/>
                <a:ea typeface="Consolas"/>
                <a:cs typeface="Consolas"/>
              </a:rPr>
              <a:t>"startTime": "09:30",</a:t>
            </a:r>
          </a:p>
          <a:p xmlns:a="http://schemas.openxmlformats.org/drawingml/2006/main">
            <a:pPr>
              <a:defRPr sz="1650" b="0">
                <a:solidFill>
                  <a:srgbClr val="F4F5F6"/>
                </a:solidFill>
              </a:defRPr>
            </a:pPr>
            <a:r>
              <a:rPr sz="1650" b="0">
                <a:solidFill>
                  <a:srgbClr val="F4F5F6"/>
                </a:solidFill>
                <a:latin typeface="Consolas"/>
                <a:ea typeface="Consolas"/>
                <a:cs typeface="Consolas"/>
              </a:rPr>
              <a:t>"destination": "Woking",</a:t>
            </a:r>
          </a:p>
          <a:p xmlns:a="http://schemas.openxmlformats.org/drawingml/2006/main">
            <a:pPr>
              <a:defRPr sz="1650" b="0">
                <a:solidFill>
                  <a:srgbClr val="F4F5F6"/>
                </a:solidFill>
              </a:defRPr>
            </a:pPr>
            <a:r>
              <a:rPr sz="1650" b="0">
                <a:solidFill>
                  <a:srgbClr val="F4F5F6"/>
                </a:solidFill>
                <a:latin typeface="Consolas"/>
                <a:ea typeface="Consolas"/>
                <a:cs typeface="Consolas"/>
              </a:rPr>
              <a:t>"distanceMiles": 36,</a:t>
            </a:r>
          </a:p>
        </p:txBody>
      </p:sp>
      <p:sp>
        <p:nvSpPr>
          <p:cNvPr id="4" name="explain-0">
            <a:extLst xmlns:a="http://schemas.openxmlformats.org/drawingml/2006/main">
              <a:ext uri="{FF2B5EF4-FFF2-40B4-BE49-F238E27FC236}">
                <a16:creationId xmlns:a16="http://schemas.microsoft.com/office/drawing/2014/main" id="{FE09FA46-86EE-47F7-8F9C-E184D502A11B}"/>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These fields belong to one archived ride.</a:t>
            </a:r>
          </a:p>
        </p:txBody>
      </p:sp>
      <p:sp>
        <p:nvSpPr>
          <p:cNvPr id="5" name="explain-1">
            <a:extLst xmlns:a="http://schemas.openxmlformats.org/drawingml/2006/main">
              <a:ext uri="{FF2B5EF4-FFF2-40B4-BE49-F238E27FC236}">
                <a16:creationId xmlns:a16="http://schemas.microsoft.com/office/drawing/2014/main" id="{2B0E3E58-D478-4BB9-89F6-3A0276879F21}"/>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id gives the record a unique identity.</a:t>
            </a:r>
          </a:p>
        </p:txBody>
      </p:sp>
      <p:sp>
        <p:nvSpPr>
          <p:cNvPr id="6" name="explain-2">
            <a:extLst xmlns:a="http://schemas.openxmlformats.org/drawingml/2006/main">
              <a:ext uri="{FF2B5EF4-FFF2-40B4-BE49-F238E27FC236}">
                <a16:creationId xmlns:a16="http://schemas.microsoft.com/office/drawing/2014/main" id="{36C88905-8C36-4076-A920-ED09C33A4CB2}"/>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date uses year-month-day. startTime uses a 24-hour clock.</a:t>
            </a:r>
          </a:p>
        </p:txBody>
      </p:sp>
      <p:sp>
        <p:nvSpPr>
          <p:cNvPr id="7" name="explain-3">
            <a:extLst xmlns:a="http://schemas.openxmlformats.org/drawingml/2006/main">
              <a:ext uri="{FF2B5EF4-FFF2-40B4-BE49-F238E27FC236}">
                <a16:creationId xmlns:a16="http://schemas.microsoft.com/office/drawing/2014/main" id="{15FB9292-5FDE-4880-8531-7BB3069BDFF6}"/>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complete record also includes meeting details and other information.</a:t>
            </a:r>
          </a:p>
        </p:txBody>
      </p:sp>
      <p:sp>
        <p:nvSpPr>
          <p:cNvPr id="8" name="source-caption">
            <a:extLst xmlns:a="http://schemas.openxmlformats.org/drawingml/2006/main">
              <a:ext uri="{FF2B5EF4-FFF2-40B4-BE49-F238E27FC236}">
                <a16:creationId xmlns:a16="http://schemas.microsoft.com/office/drawing/2014/main" id="{D9FB74D6-4656-43EE-81C6-644CC73D7C7A}"/>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Selected fields from public/data/longer-rides.json; surrounding record omitted</a:t>
            </a:r>
          </a:p>
        </p:txBody>
      </p:sp>
      <p:sp>
        <p:nvSpPr>
          <p:cNvPr id="9" name="page">
            <a:extLst xmlns:a="http://schemas.openxmlformats.org/drawingml/2006/main">
              <a:ext uri="{FF2B5EF4-FFF2-40B4-BE49-F238E27FC236}">
                <a16:creationId xmlns:a16="http://schemas.microsoft.com/office/drawing/2014/main" id="{E210CF43-0EF1-4DAB-AFAB-4D5B0657F682}"/>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18</a:t>
            </a:r>
          </a:p>
        </p:txBody>
      </p:sp>
    </p:spTree>
    <p:extLst>
      <p:ext uri="{BB962C8B-B14F-4D97-AF65-F5344CB8AC3E}">
        <p14:creationId xmlns:p14="http://schemas.microsoft.com/office/powerpoint/2010/main" val="1780598410"/>
      </p:ext>
    </p:extLst>
  </p:cSld>
</p:sld>
</file>

<file path=ppt/slides/slide19.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DC4E294-C48D-4FFC-BFC7-E6CE0ACEBAC7}"/>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Ride Diary reads the ride data</a:t>
            </a:r>
          </a:p>
        </p:txBody>
      </p:sp>
      <p:sp>
        <p:nvSpPr>
          <p:cNvPr id="3" name="point-0">
            <a:extLst xmlns:a="http://schemas.openxmlformats.org/drawingml/2006/main">
              <a:ext uri="{FF2B5EF4-FFF2-40B4-BE49-F238E27FC236}">
                <a16:creationId xmlns:a16="http://schemas.microsoft.com/office/drawing/2014/main" id="{D3F0BA23-BE77-4147-90B6-C018A89FB4D8}"/>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1. public/data/longer-rides.json stores the records.</a:t>
            </a:r>
          </a:p>
        </p:txBody>
      </p:sp>
      <p:sp>
        <p:nvSpPr>
          <p:cNvPr id="4" name="point-1">
            <a:extLst xmlns:a="http://schemas.openxmlformats.org/drawingml/2006/main">
              <a:ext uri="{FF2B5EF4-FFF2-40B4-BE49-F238E27FC236}">
                <a16:creationId xmlns:a16="http://schemas.microsoft.com/office/drawing/2014/main" id="{0D5245F0-376F-43B3-B071-D3871BC6163E}"/>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2. src/lib/data.ts loads and checks those records.</a:t>
            </a:r>
          </a:p>
        </p:txBody>
      </p:sp>
      <p:sp>
        <p:nvSpPr>
          <p:cNvPr id="5" name="point-2">
            <a:extLst xmlns:a="http://schemas.openxmlformats.org/drawingml/2006/main">
              <a:ext uri="{FF2B5EF4-FFF2-40B4-BE49-F238E27FC236}">
                <a16:creationId xmlns:a16="http://schemas.microsoft.com/office/drawing/2014/main" id="{A06002A9-7BC0-4D89-9423-EEDC196760AE}"/>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3. src/js/ride-diary.js creates the longer ride entries.</a:t>
            </a:r>
          </a:p>
        </p:txBody>
      </p:sp>
      <p:sp>
        <p:nvSpPr>
          <p:cNvPr id="6" name="point-3">
            <a:extLst xmlns:a="http://schemas.openxmlformats.org/drawingml/2006/main">
              <a:ext uri="{FF2B5EF4-FFF2-40B4-BE49-F238E27FC236}">
                <a16:creationId xmlns:a16="http://schemas.microsoft.com/office/drawing/2014/main" id="{EA34B19C-957C-437A-84D3-E2A46559499B}"/>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4. RideDiary.astro supplies the area where they appear.</a:t>
            </a:r>
          </a:p>
        </p:txBody>
      </p:sp>
      <p:sp>
        <p:nvSpPr>
          <p:cNvPr id="7" name="point-4">
            <a:extLst xmlns:a="http://schemas.openxmlformats.org/drawingml/2006/main">
              <a:ext uri="{FF2B5EF4-FFF2-40B4-BE49-F238E27FC236}">
                <a16:creationId xmlns:a16="http://schemas.microsoft.com/office/drawing/2014/main" id="{6D0D16C7-0CD4-44DC-9C36-F30E734C602F}"/>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Regular ride wording lives directly in RideDiary.astro.</a:t>
            </a:r>
          </a:p>
        </p:txBody>
      </p:sp>
      <p:sp>
        <p:nvSpPr>
          <p:cNvPr id="8" name="page">
            <a:extLst xmlns:a="http://schemas.openxmlformats.org/drawingml/2006/main">
              <a:ext uri="{FF2B5EF4-FFF2-40B4-BE49-F238E27FC236}">
                <a16:creationId xmlns:a16="http://schemas.microsoft.com/office/drawing/2014/main" id="{BE703C0E-9A18-40D6-A508-9A7BAF283A57}"/>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19</a:t>
            </a:r>
          </a:p>
        </p:txBody>
      </p:sp>
    </p:spTree>
    <p:extLst>
      <p:ext uri="{BB962C8B-B14F-4D97-AF65-F5344CB8AC3E}">
        <p14:creationId xmlns:p14="http://schemas.microsoft.com/office/powerpoint/2010/main" val="977896692"/>
      </p:ext>
    </p:extLst>
  </p:cSld>
</p:sld>
</file>

<file path=ppt/slides/slide20.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8FFD6D3-C407-4D9E-B2AD-C8764C76E2C8}"/>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Where To Next reuses the ride data</a:t>
            </a:r>
          </a:p>
        </p:txBody>
      </p:sp>
      <p:sp>
        <p:nvSpPr>
          <p:cNvPr id="3" name="point-0">
            <a:extLst xmlns:a="http://schemas.openxmlformats.org/drawingml/2006/main">
              <a:ext uri="{FF2B5EF4-FFF2-40B4-BE49-F238E27FC236}">
                <a16:creationId xmlns:a16="http://schemas.microsoft.com/office/drawing/2014/main" id="{DFBDC560-9221-4B9D-BA22-44AD4D6709EE}"/>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The page selects the earliest future departure from longerRides.</a:t>
            </a:r>
          </a:p>
        </p:txBody>
      </p:sp>
      <p:sp>
        <p:nvSpPr>
          <p:cNvPr id="4" name="point-1">
            <a:extLst xmlns:a="http://schemas.openxmlformats.org/drawingml/2006/main">
              <a:ext uri="{FF2B5EF4-FFF2-40B4-BE49-F238E27FC236}">
                <a16:creationId xmlns:a16="http://schemas.microsoft.com/office/drawing/2014/main" id="{648B3D98-A37D-42F5-92B7-AC60488A9E4D}"/>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ride needs a date to become the next ride.</a:t>
            </a:r>
          </a:p>
        </p:txBody>
      </p:sp>
      <p:sp>
        <p:nvSpPr>
          <p:cNvPr id="5" name="point-2">
            <a:extLst xmlns:a="http://schemas.openxmlformats.org/drawingml/2006/main">
              <a:ext uri="{FF2B5EF4-FFF2-40B4-BE49-F238E27FC236}">
                <a16:creationId xmlns:a16="http://schemas.microsoft.com/office/drawing/2014/main" id="{8926DE93-C840-43A7-9C9C-C9B751259BCA}"/>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Departure times use the UK time zone, including clock changes.</a:t>
            </a:r>
          </a:p>
        </p:txBody>
      </p:sp>
      <p:sp>
        <p:nvSpPr>
          <p:cNvPr id="6" name="point-3">
            <a:extLst xmlns:a="http://schemas.openxmlformats.org/drawingml/2006/main">
              <a:ext uri="{FF2B5EF4-FFF2-40B4-BE49-F238E27FC236}">
                <a16:creationId xmlns:a16="http://schemas.microsoft.com/office/drawing/2014/main" id="{4FED3C1A-0D90-4BC5-BC6F-814B95035BA1}"/>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Archived rides never become upcoming rides.</a:t>
            </a:r>
          </a:p>
        </p:txBody>
      </p:sp>
      <p:sp>
        <p:nvSpPr>
          <p:cNvPr id="7" name="point-4">
            <a:extLst xmlns:a="http://schemas.openxmlformats.org/drawingml/2006/main">
              <a:ext uri="{FF2B5EF4-FFF2-40B4-BE49-F238E27FC236}">
                <a16:creationId xmlns:a16="http://schemas.microsoft.com/office/drawing/2014/main" id="{90F3A23A-CAF9-4311-9D42-D78603892C1C}"/>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With no future ride, this version shows its Midwinter Celebration fallback.</a:t>
            </a:r>
          </a:p>
        </p:txBody>
      </p:sp>
      <p:sp>
        <p:nvSpPr>
          <p:cNvPr id="8" name="page">
            <a:extLst xmlns:a="http://schemas.openxmlformats.org/drawingml/2006/main">
              <a:ext uri="{FF2B5EF4-FFF2-40B4-BE49-F238E27FC236}">
                <a16:creationId xmlns:a16="http://schemas.microsoft.com/office/drawing/2014/main" id="{F02D9265-5239-4427-962A-5CD6C908E2DD}"/>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20</a:t>
            </a:r>
          </a:p>
        </p:txBody>
      </p:sp>
    </p:spTree>
    <p:extLst>
      <p:ext uri="{BB962C8B-B14F-4D97-AF65-F5344CB8AC3E}">
        <p14:creationId xmlns:p14="http://schemas.microsoft.com/office/powerpoint/2010/main" val="979901907"/>
      </p:ext>
    </p:extLst>
  </p:cSld>
</p:sld>
</file>

<file path=ppt/slides/slide21.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DE14805-0D1D-4449-94B1-8AFF42481DD9}"/>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Photos has its own data file</a:t>
            </a:r>
          </a:p>
        </p:txBody>
      </p:sp>
      <p:sp>
        <p:nvSpPr>
          <p:cNvPr id="3" name="code">
            <a:extLst xmlns:a="http://schemas.openxmlformats.org/drawingml/2006/main">
              <a:ext uri="{FF2B5EF4-FFF2-40B4-BE49-F238E27FC236}">
                <a16:creationId xmlns:a16="http://schemas.microsoft.com/office/drawing/2014/main" id="{865AC1E0-2E05-4FF5-8674-8992BF6E9856}"/>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a:t>
            </a:r>
          </a:p>
          <a:p xmlns:a="http://schemas.openxmlformats.org/drawingml/2006/main">
            <a:pPr>
              <a:defRPr sz="1650" b="0">
                <a:solidFill>
                  <a:srgbClr val="F4F5F6"/>
                </a:solidFill>
              </a:defRPr>
            </a:pPr>
            <a:r>
              <a:rPr sz="1650" b="0">
                <a:solidFill>
                  <a:srgbClr val="F4F5F6"/>
                </a:solidFill>
                <a:latin typeface="Consolas"/>
                <a:ea typeface="Consolas"/>
                <a:cs typeface="Consolas"/>
              </a:rPr>
              <a:t>  "year": 2026,</a:t>
            </a:r>
          </a:p>
          <a:p xmlns:a="http://schemas.openxmlformats.org/drawingml/2006/main">
            <a:pPr>
              <a:defRPr sz="1650" b="0">
                <a:solidFill>
                  <a:srgbClr val="F4F5F6"/>
                </a:solidFill>
              </a:defRPr>
            </a:pPr>
            <a:r>
              <a:rPr sz="1650" b="0">
                <a:solidFill>
                  <a:srgbClr val="F4F5F6"/>
                </a:solidFill>
                <a:latin typeface="Consolas"/>
                <a:ea typeface="Consolas"/>
                <a:cs typeface="Consolas"/>
              </a:rPr>
              <a:t>  "albums": [</a:t>
            </a:r>
          </a:p>
          <a:p xmlns:a="http://schemas.openxmlformats.org/drawingml/2006/main">
            <a:pPr>
              <a:defRPr sz="1650" b="0">
                <a:solidFill>
                  <a:srgbClr val="F4F5F6"/>
                </a:solidFill>
              </a:defRPr>
            </a:pPr>
            <a:r>
              <a:rPr sz="1650" b="0">
                <a:solidFill>
                  <a:srgbClr val="F4F5F6"/>
                </a:solidFill>
                <a:latin typeface="Consolas"/>
                <a:ea typeface="Consolas"/>
                <a:cs typeface="Consolas"/>
              </a:rPr>
              <a:t>    {</a:t>
            </a:r>
          </a:p>
          <a:p xmlns:a="http://schemas.openxmlformats.org/drawingml/2006/main">
            <a:pPr>
              <a:defRPr sz="1650" b="0">
                <a:solidFill>
                  <a:srgbClr val="F4F5F6"/>
                </a:solidFill>
              </a:defRPr>
            </a:pPr>
            <a:r>
              <a:rPr sz="1650" b="0">
                <a:solidFill>
                  <a:srgbClr val="F4F5F6"/>
                </a:solidFill>
                <a:latin typeface="Consolas"/>
                <a:ea typeface="Consolas"/>
                <a:cs typeface="Consolas"/>
              </a:rPr>
              <a:t>      "label": "14 Mar : War of the Worlds",</a:t>
            </a:r>
          </a:p>
          <a:p xmlns:a="http://schemas.openxmlformats.org/drawingml/2006/main">
            <a:pPr>
              <a:defRPr sz="1650" b="0">
                <a:solidFill>
                  <a:srgbClr val="F4F5F6"/>
                </a:solidFill>
              </a:defRPr>
            </a:pPr>
            <a:r>
              <a:rPr sz="1650" b="0">
                <a:solidFill>
                  <a:srgbClr val="F4F5F6"/>
                </a:solidFill>
                <a:latin typeface="Consolas"/>
                <a:ea typeface="Consolas"/>
                <a:cs typeface="Consolas"/>
              </a:rPr>
              <a:t>      "url": "https://app.box.com/s/..."</a:t>
            </a:r>
          </a:p>
          <a:p xmlns:a="http://schemas.openxmlformats.org/drawingml/2006/main">
            <a:pPr>
              <a:defRPr sz="1650" b="0">
                <a:solidFill>
                  <a:srgbClr val="F4F5F6"/>
                </a:solidFill>
              </a:defRPr>
            </a:pPr>
            <a:r>
              <a:rPr sz="1650" b="0">
                <a:solidFill>
                  <a:srgbClr val="F4F5F6"/>
                </a:solidFill>
                <a:latin typeface="Consolas"/>
                <a:ea typeface="Consolas"/>
                <a:cs typeface="Consolas"/>
              </a:rPr>
              <a:t>    }</a:t>
            </a:r>
          </a:p>
          <a:p xmlns:a="http://schemas.openxmlformats.org/drawingml/2006/main">
            <a:pPr>
              <a:defRPr sz="1650" b="0">
                <a:solidFill>
                  <a:srgbClr val="F4F5F6"/>
                </a:solidFill>
              </a:defRPr>
            </a:pPr>
            <a:r>
              <a:rPr sz="1650" b="0">
                <a:solidFill>
                  <a:srgbClr val="F4F5F6"/>
                </a:solidFill>
                <a:latin typeface="Consolas"/>
                <a:ea typeface="Consolas"/>
                <a:cs typeface="Consolas"/>
              </a:rPr>
              <a:t>  ]</a:t>
            </a:r>
          </a:p>
          <a:p xmlns:a="http://schemas.openxmlformats.org/drawingml/2006/main">
            <a:pPr>
              <a:defRPr sz="1650" b="0">
                <a:solidFill>
                  <a:srgbClr val="F4F5F6"/>
                </a:solidFill>
              </a:defRPr>
            </a:pPr>
            <a:r>
              <a:rPr sz="1650" b="0">
                <a:solidFill>
                  <a:srgbClr val="F4F5F6"/>
                </a:solidFill>
                <a:latin typeface="Consolas"/>
                <a:ea typeface="Consolas"/>
                <a:cs typeface="Consolas"/>
              </a:rPr>
              <a:t>}</a:t>
            </a:r>
          </a:p>
        </p:txBody>
      </p:sp>
      <p:sp>
        <p:nvSpPr>
          <p:cNvPr id="4" name="explain-0">
            <a:extLst xmlns:a="http://schemas.openxmlformats.org/drawingml/2006/main">
              <a:ext uri="{FF2B5EF4-FFF2-40B4-BE49-F238E27FC236}">
                <a16:creationId xmlns:a16="http://schemas.microsoft.com/office/drawing/2014/main" id="{16ED489D-5EE9-437E-AFCA-B84A412534EC}"/>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photos.json groups album links by year.</a:t>
            </a:r>
          </a:p>
        </p:txBody>
      </p:sp>
      <p:sp>
        <p:nvSpPr>
          <p:cNvPr id="5" name="explain-1">
            <a:extLst xmlns:a="http://schemas.openxmlformats.org/drawingml/2006/main">
              <a:ext uri="{FF2B5EF4-FFF2-40B4-BE49-F238E27FC236}">
                <a16:creationId xmlns:a16="http://schemas.microsoft.com/office/drawing/2014/main" id="{8FD6600E-801B-42E5-983D-4DB94FEAC9C5}"/>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visitor’s UK calendar year selects current and archive menus.</a:t>
            </a:r>
          </a:p>
        </p:txBody>
      </p:sp>
      <p:sp>
        <p:nvSpPr>
          <p:cNvPr id="6" name="explain-2">
            <a:extLst xmlns:a="http://schemas.openxmlformats.org/drawingml/2006/main">
              <a:ext uri="{FF2B5EF4-FFF2-40B4-BE49-F238E27FC236}">
                <a16:creationId xmlns:a16="http://schemas.microsoft.com/office/drawing/2014/main" id="{479708F1-0ABE-44A5-8BC9-7FD359A1410D}"/>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A ride’s photosUrl is a separate link.</a:t>
            </a:r>
          </a:p>
        </p:txBody>
      </p:sp>
      <p:sp>
        <p:nvSpPr>
          <p:cNvPr id="7" name="explain-3">
            <a:extLst xmlns:a="http://schemas.openxmlformats.org/drawingml/2006/main">
              <a:ext uri="{FF2B5EF4-FFF2-40B4-BE49-F238E27FC236}">
                <a16:creationId xmlns:a16="http://schemas.microsoft.com/office/drawing/2014/main" id="{045D0DFC-3E56-419A-9FB0-BF83C162FC6B}"/>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If an album URL appears in both places, update both.</a:t>
            </a:r>
          </a:p>
        </p:txBody>
      </p:sp>
      <p:sp>
        <p:nvSpPr>
          <p:cNvPr id="8" name="source-caption">
            <a:extLst xmlns:a="http://schemas.openxmlformats.org/drawingml/2006/main">
              <a:ext uri="{FF2B5EF4-FFF2-40B4-BE49-F238E27FC236}">
                <a16:creationId xmlns:a16="http://schemas.microsoft.com/office/drawing/2014/main" id="{DABC37A8-2FFD-453A-88E0-D48AFEEF62E4}"/>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Shortened photos.json example; URL abbreviated, not a link to copy</a:t>
            </a:r>
          </a:p>
        </p:txBody>
      </p:sp>
      <p:sp>
        <p:nvSpPr>
          <p:cNvPr id="9" name="page">
            <a:extLst xmlns:a="http://schemas.openxmlformats.org/drawingml/2006/main">
              <a:ext uri="{FF2B5EF4-FFF2-40B4-BE49-F238E27FC236}">
                <a16:creationId xmlns:a16="http://schemas.microsoft.com/office/drawing/2014/main" id="{85121738-F51E-4C96-A58B-0CF2ACBF96FA}"/>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21</a:t>
            </a:r>
          </a:p>
        </p:txBody>
      </p:sp>
    </p:spTree>
    <p:extLst>
      <p:ext uri="{BB962C8B-B14F-4D97-AF65-F5344CB8AC3E}">
        <p14:creationId xmlns:p14="http://schemas.microsoft.com/office/powerpoint/2010/main" val="808565087"/>
      </p:ext>
    </p:extLst>
  </p:cSld>
</p:sld>
</file>

<file path=ppt/slides/slide22.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507C711-15BB-4914-9F24-6C23D6C4E760}"/>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ride template needs real values</a:t>
            </a:r>
          </a:p>
        </p:txBody>
      </p:sp>
      <p:sp>
        <p:nvSpPr>
          <p:cNvPr id="3" name="point-0">
            <a:extLst xmlns:a="http://schemas.openxmlformats.org/drawingml/2006/main">
              <a:ext uri="{FF2B5EF4-FFF2-40B4-BE49-F238E27FC236}">
                <a16:creationId xmlns:a16="http://schemas.microsoft.com/office/drawing/2014/main" id="{FBB4ED15-BEFD-419A-9216-7F283196D41A}"/>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ride-template.json is a starting example, not the live ride list.</a:t>
            </a:r>
          </a:p>
        </p:txBody>
      </p:sp>
      <p:sp>
        <p:nvSpPr>
          <p:cNvPr id="4" name="point-1">
            <a:extLst xmlns:a="http://schemas.openxmlformats.org/drawingml/2006/main">
              <a:ext uri="{FF2B5EF4-FFF2-40B4-BE49-F238E27FC236}">
                <a16:creationId xmlns:a16="http://schemas.microsoft.com/office/drawing/2014/main" id="{690F2412-0D83-4CEB-9176-D4D43B0DB0D0}"/>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Copy only newRide into longer-rides.json, then complete it.</a:t>
            </a:r>
          </a:p>
        </p:txBody>
      </p:sp>
      <p:sp>
        <p:nvSpPr>
          <p:cNvPr id="5" name="point-2">
            <a:extLst xmlns:a="http://schemas.openxmlformats.org/drawingml/2006/main">
              <a:ext uri="{FF2B5EF4-FFF2-40B4-BE49-F238E27FC236}">
                <a16:creationId xmlns:a16="http://schemas.microsoft.com/office/drawing/2014/main" id="{9A53D76F-9DF2-4811-BF36-ABA7D374082D}"/>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Use a unique ID and a real date, or null for an undecided date.</a:t>
            </a:r>
          </a:p>
        </p:txBody>
      </p:sp>
      <p:sp>
        <p:nvSpPr>
          <p:cNvPr id="6" name="point-3">
            <a:extLst xmlns:a="http://schemas.openxmlformats.org/drawingml/2006/main">
              <a:ext uri="{FF2B5EF4-FFF2-40B4-BE49-F238E27FC236}">
                <a16:creationId xmlns:a16="http://schemas.microsoft.com/office/drawing/2014/main" id="{190F934A-E9F0-4B6D-BC22-75AD1A005BD4}"/>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Remove unused optional fields, including an empty meeting-point note.</a:t>
            </a:r>
          </a:p>
        </p:txBody>
      </p:sp>
      <p:sp>
        <p:nvSpPr>
          <p:cNvPr id="7" name="point-4">
            <a:extLst xmlns:a="http://schemas.openxmlformats.org/drawingml/2006/main">
              <a:ext uri="{FF2B5EF4-FFF2-40B4-BE49-F238E27FC236}">
                <a16:creationId xmlns:a16="http://schemas.microsoft.com/office/drawing/2014/main" id="{A076B098-764B-482C-918A-298D6EA66173}"/>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Replace placeholder links or remove optional links until they are ready.</a:t>
            </a:r>
          </a:p>
        </p:txBody>
      </p:sp>
      <p:sp>
        <p:nvSpPr>
          <p:cNvPr id="8" name="page">
            <a:extLst xmlns:a="http://schemas.openxmlformats.org/drawingml/2006/main">
              <a:ext uri="{FF2B5EF4-FFF2-40B4-BE49-F238E27FC236}">
                <a16:creationId xmlns:a16="http://schemas.microsoft.com/office/drawing/2014/main" id="{E07BA6C7-A596-4F5E-89DD-74D0E760CCAE}"/>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22</a:t>
            </a:r>
          </a:p>
        </p:txBody>
      </p:sp>
    </p:spTree>
    <p:extLst>
      <p:ext uri="{BB962C8B-B14F-4D97-AF65-F5344CB8AC3E}">
        <p14:creationId xmlns:p14="http://schemas.microsoft.com/office/powerpoint/2010/main" val="777446471"/>
      </p:ext>
    </p:extLst>
  </p:cSld>
</p:sld>
</file>

<file path=ppt/slides/slide23.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6CAEEE2-7905-4E5E-B496-5C2DE68627B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JavaScript responds to events</a:t>
            </a:r>
          </a:p>
        </p:txBody>
      </p:sp>
      <p:sp>
        <p:nvSpPr>
          <p:cNvPr id="3" name="point-0">
            <a:extLst xmlns:a="http://schemas.openxmlformats.org/drawingml/2006/main">
              <a:ext uri="{FF2B5EF4-FFF2-40B4-BE49-F238E27FC236}">
                <a16:creationId xmlns:a16="http://schemas.microsoft.com/office/drawing/2014/main" id="{492C29FE-9855-4D70-90AF-91E1FD0A703C}"/>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An element is one item on the page, such as a button.</a:t>
            </a:r>
          </a:p>
        </p:txBody>
      </p:sp>
      <p:sp>
        <p:nvSpPr>
          <p:cNvPr id="4" name="point-1">
            <a:extLst xmlns:a="http://schemas.openxmlformats.org/drawingml/2006/main">
              <a:ext uri="{FF2B5EF4-FFF2-40B4-BE49-F238E27FC236}">
                <a16:creationId xmlns:a16="http://schemas.microsoft.com/office/drawing/2014/main" id="{A5D5D90F-6767-4E1A-82FC-A05124A0CBEE}"/>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variable gives a name to a value.</a:t>
            </a:r>
          </a:p>
        </p:txBody>
      </p:sp>
      <p:sp>
        <p:nvSpPr>
          <p:cNvPr id="5" name="point-2">
            <a:extLst xmlns:a="http://schemas.openxmlformats.org/drawingml/2006/main">
              <a:ext uri="{FF2B5EF4-FFF2-40B4-BE49-F238E27FC236}">
                <a16:creationId xmlns:a16="http://schemas.microsoft.com/office/drawing/2014/main" id="{1205BDAE-2C4B-4ECF-9074-8B0D57F94C5E}"/>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function groups instructions under a name.</a:t>
            </a:r>
          </a:p>
        </p:txBody>
      </p:sp>
      <p:sp>
        <p:nvSpPr>
          <p:cNvPr id="6" name="point-3">
            <a:extLst xmlns:a="http://schemas.openxmlformats.org/drawingml/2006/main">
              <a:ext uri="{FF2B5EF4-FFF2-40B4-BE49-F238E27FC236}">
                <a16:creationId xmlns:a16="http://schemas.microsoft.com/office/drawing/2014/main" id="{B12702CC-A230-4560-9FD5-C02C0D64E3BE}"/>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An event is something that happens, such as a click.</a:t>
            </a:r>
          </a:p>
        </p:txBody>
      </p:sp>
      <p:sp>
        <p:nvSpPr>
          <p:cNvPr id="7" name="point-4">
            <a:extLst xmlns:a="http://schemas.openxmlformats.org/drawingml/2006/main">
              <a:ext uri="{FF2B5EF4-FFF2-40B4-BE49-F238E27FC236}">
                <a16:creationId xmlns:a16="http://schemas.microsoft.com/office/drawing/2014/main" id="{FBE111BF-349C-4F9E-88BB-2E279A0A46DD}"/>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script can find an element and attach a function to its click event.</a:t>
            </a:r>
          </a:p>
        </p:txBody>
      </p:sp>
      <p:sp>
        <p:nvSpPr>
          <p:cNvPr id="8" name="page">
            <a:extLst xmlns:a="http://schemas.openxmlformats.org/drawingml/2006/main">
              <a:ext uri="{FF2B5EF4-FFF2-40B4-BE49-F238E27FC236}">
                <a16:creationId xmlns:a16="http://schemas.microsoft.com/office/drawing/2014/main" id="{C481FF51-4B16-4C47-817C-745A1D94E370}"/>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23</a:t>
            </a:r>
          </a:p>
        </p:txBody>
      </p:sp>
    </p:spTree>
    <p:extLst>
      <p:ext uri="{BB962C8B-B14F-4D97-AF65-F5344CB8AC3E}">
        <p14:creationId xmlns:p14="http://schemas.microsoft.com/office/powerpoint/2010/main" val="330805019"/>
      </p:ext>
    </p:extLst>
  </p:cSld>
</p:sld>
</file>

<file path=ppt/slides/slide24.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2317D69-5703-4503-974C-E8B9C90FA954}"/>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A click changes the active menu item</a:t>
            </a:r>
          </a:p>
        </p:txBody>
      </p:sp>
      <p:sp>
        <p:nvSpPr>
          <p:cNvPr id="3" name="code">
            <a:extLst xmlns:a="http://schemas.openxmlformats.org/drawingml/2006/main">
              <a:ext uri="{FF2B5EF4-FFF2-40B4-BE49-F238E27FC236}">
                <a16:creationId xmlns:a16="http://schemas.microsoft.com/office/drawing/2014/main" id="{97420351-459A-45FA-A122-88B9843620C7}"/>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const navLinkEls =</a:t>
            </a:r>
          </a:p>
          <a:p xmlns:a="http://schemas.openxmlformats.org/drawingml/2006/main">
            <a:pPr>
              <a:defRPr sz="1650" b="0">
                <a:solidFill>
                  <a:srgbClr val="F4F5F6"/>
                </a:solidFill>
              </a:defRPr>
            </a:pPr>
            <a:r>
              <a:rPr sz="1650" b="0">
                <a:solidFill>
                  <a:srgbClr val="F4F5F6"/>
                </a:solidFill>
                <a:latin typeface="Consolas"/>
                <a:ea typeface="Consolas"/>
                <a:cs typeface="Consolas"/>
              </a:rPr>
              <a:t>  document.querySelectorAll('.nav-link');</a:t>
            </a:r>
          </a:p>
          <a:p xmlns:a="http://schemas.openxmlformats.org/drawingml/2006/main">
            <a:pPr>
              <a:defRPr sz="1650" b="0">
                <a:solidFill>
                  <a:srgbClr val="F4F5F6"/>
                </a:solidFill>
              </a:defRPr>
            </a:pPr>
            <a:r>
              <a:rPr sz="1650" b="0">
                <a:solidFill>
                  <a:srgbClr val="F4F5F6"/>
                </a:solidFill>
                <a:latin typeface="Consolas"/>
                <a:ea typeface="Consolas"/>
                <a:cs typeface="Consolas"/>
              </a:rPr>
              <a:t>navLinkEls.forEach(navLinkEl =&gt; {</a:t>
            </a:r>
          </a:p>
          <a:p xmlns:a="http://schemas.openxmlformats.org/drawingml/2006/main">
            <a:pPr>
              <a:defRPr sz="1650" b="0">
                <a:solidFill>
                  <a:srgbClr val="F4F5F6"/>
                </a:solidFill>
              </a:defRPr>
            </a:pPr>
            <a:r>
              <a:rPr sz="1650" b="0">
                <a:solidFill>
                  <a:srgbClr val="F4F5F6"/>
                </a:solidFill>
                <a:latin typeface="Consolas"/>
                <a:ea typeface="Consolas"/>
                <a:cs typeface="Consolas"/>
              </a:rPr>
              <a:t>  navLinkEl.addEventListener('click', () =&gt; {</a:t>
            </a:r>
          </a:p>
          <a:p xmlns:a="http://schemas.openxmlformats.org/drawingml/2006/main">
            <a:pPr>
              <a:defRPr sz="1650" b="0">
                <a:solidFill>
                  <a:srgbClr val="F4F5F6"/>
                </a:solidFill>
              </a:defRPr>
            </a:pPr>
            <a:r>
              <a:rPr sz="1650" b="0">
                <a:solidFill>
                  <a:srgbClr val="F4F5F6"/>
                </a:solidFill>
                <a:latin typeface="Consolas"/>
                <a:ea typeface="Consolas"/>
                <a:cs typeface="Consolas"/>
              </a:rPr>
              <a:t>    document.querySelector('.active')</a:t>
            </a:r>
          </a:p>
          <a:p xmlns:a="http://schemas.openxmlformats.org/drawingml/2006/main">
            <a:pPr>
              <a:defRPr sz="1650" b="0">
                <a:solidFill>
                  <a:srgbClr val="F4F5F6"/>
                </a:solidFill>
              </a:defRPr>
            </a:pPr>
            <a:r>
              <a:rPr sz="1650" b="0">
                <a:solidFill>
                  <a:srgbClr val="F4F5F6"/>
                </a:solidFill>
                <a:latin typeface="Consolas"/>
                <a:ea typeface="Consolas"/>
                <a:cs typeface="Consolas"/>
              </a:rPr>
              <a:t>      ?.classList.remove('active');</a:t>
            </a:r>
          </a:p>
          <a:p xmlns:a="http://schemas.openxmlformats.org/drawingml/2006/main">
            <a:pPr>
              <a:defRPr sz="1650" b="0">
                <a:solidFill>
                  <a:srgbClr val="F4F5F6"/>
                </a:solidFill>
              </a:defRPr>
            </a:pPr>
            <a:r>
              <a:rPr sz="1650" b="0">
                <a:solidFill>
                  <a:srgbClr val="F4F5F6"/>
                </a:solidFill>
                <a:latin typeface="Consolas"/>
                <a:ea typeface="Consolas"/>
                <a:cs typeface="Consolas"/>
              </a:rPr>
              <a:t>    navLinkEl.classList.add('active');</a:t>
            </a:r>
          </a:p>
          <a:p xmlns:a="http://schemas.openxmlformats.org/drawingml/2006/main">
            <a:pPr>
              <a:defRPr sz="1650" b="0">
                <a:solidFill>
                  <a:srgbClr val="F4F5F6"/>
                </a:solidFill>
              </a:defRPr>
            </a:pPr>
            <a:r>
              <a:rPr sz="1650" b="0">
                <a:solidFill>
                  <a:srgbClr val="F4F5F6"/>
                </a:solidFill>
                <a:latin typeface="Consolas"/>
                <a:ea typeface="Consolas"/>
                <a:cs typeface="Consolas"/>
              </a:rPr>
              <a:t>  });</a:t>
            </a:r>
          </a:p>
          <a:p xmlns:a="http://schemas.openxmlformats.org/drawingml/2006/main">
            <a:pPr>
              <a:defRPr sz="1650" b="0">
                <a:solidFill>
                  <a:srgbClr val="F4F5F6"/>
                </a:solidFill>
              </a:defRPr>
            </a:pPr>
            <a:r>
              <a:rPr sz="1650" b="0">
                <a:solidFill>
                  <a:srgbClr val="F4F5F6"/>
                </a:solidFill>
                <a:latin typeface="Consolas"/>
                <a:ea typeface="Consolas"/>
                <a:cs typeface="Consolas"/>
              </a:rPr>
              <a:t>});</a:t>
            </a:r>
          </a:p>
        </p:txBody>
      </p:sp>
      <p:sp>
        <p:nvSpPr>
          <p:cNvPr id="4" name="explain-0">
            <a:extLst xmlns:a="http://schemas.openxmlformats.org/drawingml/2006/main">
              <a:ext uri="{FF2B5EF4-FFF2-40B4-BE49-F238E27FC236}">
                <a16:creationId xmlns:a16="http://schemas.microsoft.com/office/drawing/2014/main" id="{1A591235-8AE8-4EF7-BD68-22DAF9994749}"/>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Find the navigation links.</a:t>
            </a:r>
          </a:p>
        </p:txBody>
      </p:sp>
      <p:sp>
        <p:nvSpPr>
          <p:cNvPr id="5" name="explain-1">
            <a:extLst xmlns:a="http://schemas.openxmlformats.org/drawingml/2006/main">
              <a:ext uri="{FF2B5EF4-FFF2-40B4-BE49-F238E27FC236}">
                <a16:creationId xmlns:a16="http://schemas.microsoft.com/office/drawing/2014/main" id="{33E14E5C-B532-48DB-BB16-1C714CD5243F}"/>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For each link, listen for a click.</a:t>
            </a:r>
          </a:p>
        </p:txBody>
      </p:sp>
      <p:sp>
        <p:nvSpPr>
          <p:cNvPr id="6" name="explain-2">
            <a:extLst xmlns:a="http://schemas.openxmlformats.org/drawingml/2006/main">
              <a:ext uri="{FF2B5EF4-FFF2-40B4-BE49-F238E27FC236}">
                <a16:creationId xmlns:a16="http://schemas.microsoft.com/office/drawing/2014/main" id="{B03C3CEA-3139-4B35-A773-C4FA22FB780C}"/>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Remove an existing active class if one exists.</a:t>
            </a:r>
          </a:p>
        </p:txBody>
      </p:sp>
      <p:sp>
        <p:nvSpPr>
          <p:cNvPr id="7" name="explain-3">
            <a:extLst xmlns:a="http://schemas.openxmlformats.org/drawingml/2006/main">
              <a:ext uri="{FF2B5EF4-FFF2-40B4-BE49-F238E27FC236}">
                <a16:creationId xmlns:a16="http://schemas.microsoft.com/office/drawing/2014/main" id="{5B27E89B-E140-49D1-BC0B-95EBB996BF67}"/>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Add active to the clicked link.</a:t>
            </a:r>
          </a:p>
        </p:txBody>
      </p:sp>
      <p:sp>
        <p:nvSpPr>
          <p:cNvPr id="8" name="source-caption">
            <a:extLst xmlns:a="http://schemas.openxmlformats.org/drawingml/2006/main">
              <a:ext uri="{FF2B5EF4-FFF2-40B4-BE49-F238E27FC236}">
                <a16:creationId xmlns:a16="http://schemas.microsoft.com/office/drawing/2014/main" id="{8F37F815-06FC-46D6-B87C-3840DDE9F17D}"/>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First block of src/js/navlink.js, whitespace normalised</a:t>
            </a:r>
          </a:p>
        </p:txBody>
      </p:sp>
      <p:sp>
        <p:nvSpPr>
          <p:cNvPr id="9" name="page">
            <a:extLst xmlns:a="http://schemas.openxmlformats.org/drawingml/2006/main">
              <a:ext uri="{FF2B5EF4-FFF2-40B4-BE49-F238E27FC236}">
                <a16:creationId xmlns:a16="http://schemas.microsoft.com/office/drawing/2014/main" id="{8C88302E-7A4C-4970-B5C6-595975AA41E7}"/>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24</a:t>
            </a:r>
          </a:p>
        </p:txBody>
      </p:sp>
    </p:spTree>
    <p:extLst>
      <p:ext uri="{BB962C8B-B14F-4D97-AF65-F5344CB8AC3E}">
        <p14:creationId xmlns:p14="http://schemas.microsoft.com/office/powerpoint/2010/main" val="185520493"/>
      </p:ext>
    </p:extLst>
  </p:cSld>
</p:sld>
</file>

<file path=ppt/slides/slide25.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F20E233-F97D-4B19-B739-7506B5DA4A95}"/>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Bootstrap connects a button to hidden content</a:t>
            </a:r>
          </a:p>
        </p:txBody>
      </p:sp>
      <p:sp>
        <p:nvSpPr>
          <p:cNvPr id="3" name="code">
            <a:extLst xmlns:a="http://schemas.openxmlformats.org/drawingml/2006/main">
              <a:ext uri="{FF2B5EF4-FFF2-40B4-BE49-F238E27FC236}">
                <a16:creationId xmlns:a16="http://schemas.microsoft.com/office/drawing/2014/main" id="{6FA63465-4FC3-4973-AC04-187DAFDCE7A4}"/>
              </a:ext>
            </a:extLst>
          </p:cNvPr>
          <p:cNvSpPr>
            <a:spLocks xmlns:a="http://schemas.openxmlformats.org/drawingml/2006/main" noGrp="1"/>
          </p:cNvSpPr>
          <p:nvPr/>
        </p:nvSpPr>
        <p:spPr>
          <a:xfrm xmlns:a="http://schemas.openxmlformats.org/drawingml/2006/main">
            <a:off x="685800" y="1809750"/>
            <a:ext cx="7048500" cy="3781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4F5F6"/>
                </a:solidFill>
                <a:latin typeface="Consolas"/>
                <a:ea typeface="Consolas"/>
                <a:cs typeface="Consolas"/>
              </a:defRPr>
            </a:defPPr>
            <a:lvl1pPr>
              <a:defRPr sz="1650" b="0">
                <a:solidFill>
                  <a:srgbClr val="F4F5F6"/>
                </a:solidFill>
                <a:latin typeface="Consolas"/>
                <a:ea typeface="Consolas"/>
                <a:cs typeface="Consolas"/>
              </a:defRPr>
            </a:lvl1pPr>
            <a:lvl2pPr>
              <a:defRPr sz="1650" b="0">
                <a:solidFill>
                  <a:srgbClr val="F4F5F6"/>
                </a:solidFill>
                <a:latin typeface="Consolas"/>
                <a:ea typeface="Consolas"/>
                <a:cs typeface="Consolas"/>
              </a:defRPr>
            </a:lvl2pPr>
            <a:lvl3pPr>
              <a:defRPr sz="1650" b="0">
                <a:solidFill>
                  <a:srgbClr val="F4F5F6"/>
                </a:solidFill>
                <a:latin typeface="Consolas"/>
                <a:ea typeface="Consolas"/>
                <a:cs typeface="Consolas"/>
              </a:defRPr>
            </a:lvl3pPr>
            <a:lvl4pPr>
              <a:defRPr sz="1650" b="0">
                <a:solidFill>
                  <a:srgbClr val="F4F5F6"/>
                </a:solidFill>
                <a:latin typeface="Consolas"/>
                <a:ea typeface="Consolas"/>
                <a:cs typeface="Consolas"/>
              </a:defRPr>
            </a:lvl4pPr>
            <a:lvl5pPr>
              <a:defRPr sz="1650" b="0">
                <a:solidFill>
                  <a:srgbClr val="F4F5F6"/>
                </a:solidFill>
                <a:latin typeface="Consolas"/>
                <a:ea typeface="Consolas"/>
                <a:cs typeface="Consolas"/>
              </a:defRPr>
            </a:lvl5pPr>
            <a:lvl6pPr>
              <a:defRPr sz="1650" b="0">
                <a:solidFill>
                  <a:srgbClr val="F4F5F6"/>
                </a:solidFill>
                <a:latin typeface="Consolas"/>
                <a:ea typeface="Consolas"/>
                <a:cs typeface="Consolas"/>
              </a:defRPr>
            </a:lvl6pPr>
            <a:lvl7pPr>
              <a:defRPr sz="1650" b="0">
                <a:solidFill>
                  <a:srgbClr val="F4F5F6"/>
                </a:solidFill>
                <a:latin typeface="Consolas"/>
                <a:ea typeface="Consolas"/>
                <a:cs typeface="Consolas"/>
              </a:defRPr>
            </a:lvl7pPr>
            <a:lvl8pPr>
              <a:defRPr sz="1650" b="0">
                <a:solidFill>
                  <a:srgbClr val="F4F5F6"/>
                </a:solidFill>
                <a:latin typeface="Consolas"/>
                <a:ea typeface="Consolas"/>
                <a:cs typeface="Consolas"/>
              </a:defRPr>
            </a:lvl8pPr>
            <a:lvl9pPr>
              <a:defRPr sz="1650" b="0">
                <a:solidFill>
                  <a:srgbClr val="F4F5F6"/>
                </a:solidFill>
                <a:latin typeface="Consolas"/>
                <a:ea typeface="Consolas"/>
                <a:cs typeface="Consolas"/>
              </a:defRPr>
            </a:lvl9pPr>
          </a:lstStyle>
          <a:p xmlns:a="http://schemas.openxmlformats.org/drawingml/2006/main">
            <a:pPr>
              <a:defRPr sz="1650" b="0">
                <a:solidFill>
                  <a:srgbClr val="F4F5F6"/>
                </a:solidFill>
              </a:defRPr>
            </a:pPr>
            <a:r>
              <a:rPr sz="1650" b="0">
                <a:solidFill>
                  <a:srgbClr val="F4F5F6"/>
                </a:solidFill>
                <a:latin typeface="Consolas"/>
                <a:ea typeface="Consolas"/>
                <a:cs typeface="Consolas"/>
              </a:rPr>
              <a:t>&lt;button data-bs-toggle="collapse"</a:t>
            </a:r>
          </a:p>
          <a:p xmlns:a="http://schemas.openxmlformats.org/drawingml/2006/main">
            <a:pPr>
              <a:defRPr sz="1650" b="0">
                <a:solidFill>
                  <a:srgbClr val="F4F5F6"/>
                </a:solidFill>
              </a:defRPr>
            </a:pPr>
            <a:r>
              <a:rPr sz="1650" b="0">
                <a:solidFill>
                  <a:srgbClr val="F4F5F6"/>
                </a:solidFill>
                <a:latin typeface="Consolas"/>
                <a:ea typeface="Consolas"/>
                <a:cs typeface="Consolas"/>
              </a:rPr>
              <a:t>        data-bs-target="#question-one"&gt;</a:t>
            </a:r>
          </a:p>
          <a:p xmlns:a="http://schemas.openxmlformats.org/drawingml/2006/main">
            <a:pPr>
              <a:defRPr sz="1650" b="0">
                <a:solidFill>
                  <a:srgbClr val="F4F5F6"/>
                </a:solidFill>
              </a:defRPr>
            </a:pPr>
            <a:r>
              <a:rPr sz="1650" b="0">
                <a:solidFill>
                  <a:srgbClr val="F4F5F6"/>
                </a:solidFill>
                <a:latin typeface="Consolas"/>
                <a:ea typeface="Consolas"/>
                <a:cs typeface="Consolas"/>
              </a:rPr>
              <a:t>  1. When, Where and What time does the group meet up?</a:t>
            </a:r>
          </a:p>
          <a:p xmlns:a="http://schemas.openxmlformats.org/drawingml/2006/main">
            <a:pPr>
              <a:defRPr sz="1650" b="0">
                <a:solidFill>
                  <a:srgbClr val="F4F5F6"/>
                </a:solidFill>
              </a:defRPr>
            </a:pPr>
            <a:r>
              <a:rPr sz="1650" b="0">
                <a:solidFill>
                  <a:srgbClr val="F4F5F6"/>
                </a:solidFill>
                <a:latin typeface="Consolas"/>
                <a:ea typeface="Consolas"/>
                <a:cs typeface="Consolas"/>
              </a:rPr>
              <a:t>&lt;/button&gt;</a:t>
            </a:r>
          </a:p>
          <a:p xmlns:a="http://schemas.openxmlformats.org/drawingml/2006/main">
            <a:r>
              <a:t/>
            </a:r>
          </a:p>
          <a:p xmlns:a="http://schemas.openxmlformats.org/drawingml/2006/main">
            <a:pPr>
              <a:defRPr sz="1650" b="0">
                <a:solidFill>
                  <a:srgbClr val="F4F5F6"/>
                </a:solidFill>
              </a:defRPr>
            </a:pPr>
            <a:r>
              <a:rPr sz="1650" b="0">
                <a:solidFill>
                  <a:srgbClr val="F4F5F6"/>
                </a:solidFill>
                <a:latin typeface="Consolas"/>
                <a:ea typeface="Consolas"/>
                <a:cs typeface="Consolas"/>
              </a:rPr>
              <a:t>&lt;div id="question-one"</a:t>
            </a:r>
          </a:p>
          <a:p xmlns:a="http://schemas.openxmlformats.org/drawingml/2006/main">
            <a:pPr>
              <a:defRPr sz="1650" b="0">
                <a:solidFill>
                  <a:srgbClr val="F4F5F6"/>
                </a:solidFill>
              </a:defRPr>
            </a:pPr>
            <a:r>
              <a:rPr sz="1650" b="0">
                <a:solidFill>
                  <a:srgbClr val="F4F5F6"/>
                </a:solidFill>
                <a:latin typeface="Consolas"/>
                <a:ea typeface="Consolas"/>
                <a:cs typeface="Consolas"/>
              </a:rPr>
              <a:t>     class="accordion-collapse collapse"&gt;</a:t>
            </a:r>
          </a:p>
        </p:txBody>
      </p:sp>
      <p:sp>
        <p:nvSpPr>
          <p:cNvPr id="4" name="explain-0">
            <a:extLst xmlns:a="http://schemas.openxmlformats.org/drawingml/2006/main">
              <a:ext uri="{FF2B5EF4-FFF2-40B4-BE49-F238E27FC236}">
                <a16:creationId xmlns:a16="http://schemas.microsoft.com/office/drawing/2014/main" id="{712B18DA-C55A-4F9A-95F9-505F843B6574}"/>
              </a:ext>
            </a:extLst>
          </p:cNvPr>
          <p:cNvSpPr>
            <a:spLocks xmlns:a="http://schemas.openxmlformats.org/drawingml/2006/main" noGrp="1"/>
          </p:cNvSpPr>
          <p:nvPr/>
        </p:nvSpPr>
        <p:spPr>
          <a:xfrm xmlns:a="http://schemas.openxmlformats.org/drawingml/2006/main">
            <a:off x="8210550" y="18097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data-bs-toggle names the Bootstrap behaviour.</a:t>
            </a:r>
          </a:p>
        </p:txBody>
      </p:sp>
      <p:sp>
        <p:nvSpPr>
          <p:cNvPr id="5" name="explain-1">
            <a:extLst xmlns:a="http://schemas.openxmlformats.org/drawingml/2006/main">
              <a:ext uri="{FF2B5EF4-FFF2-40B4-BE49-F238E27FC236}">
                <a16:creationId xmlns:a16="http://schemas.microsoft.com/office/drawing/2014/main" id="{8AE6591E-3A42-4029-8B8B-0BEBF5EC5D74}"/>
              </a:ext>
            </a:extLst>
          </p:cNvPr>
          <p:cNvSpPr>
            <a:spLocks xmlns:a="http://schemas.openxmlformats.org/drawingml/2006/main" noGrp="1"/>
          </p:cNvSpPr>
          <p:nvPr/>
        </p:nvSpPr>
        <p:spPr>
          <a:xfrm xmlns:a="http://schemas.openxmlformats.org/drawingml/2006/main">
            <a:off x="8210550" y="28003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data-bs-target names the element to open or close.</a:t>
            </a:r>
          </a:p>
        </p:txBody>
      </p:sp>
      <p:sp>
        <p:nvSpPr>
          <p:cNvPr id="6" name="explain-2">
            <a:extLst xmlns:a="http://schemas.openxmlformats.org/drawingml/2006/main">
              <a:ext uri="{FF2B5EF4-FFF2-40B4-BE49-F238E27FC236}">
                <a16:creationId xmlns:a16="http://schemas.microsoft.com/office/drawing/2014/main" id="{7BE461E8-BAA1-4770-8653-69A3BEB34429}"/>
              </a:ext>
            </a:extLst>
          </p:cNvPr>
          <p:cNvSpPr>
            <a:spLocks xmlns:a="http://schemas.openxmlformats.org/drawingml/2006/main" noGrp="1"/>
          </p:cNvSpPr>
          <p:nvPr/>
        </p:nvSpPr>
        <p:spPr>
          <a:xfrm xmlns:a="http://schemas.openxmlformats.org/drawingml/2006/main">
            <a:off x="8210550" y="37909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The target matches that element’s ID.</a:t>
            </a:r>
          </a:p>
        </p:txBody>
      </p:sp>
      <p:sp>
        <p:nvSpPr>
          <p:cNvPr id="7" name="explain-3">
            <a:extLst xmlns:a="http://schemas.openxmlformats.org/drawingml/2006/main">
              <a:ext uri="{FF2B5EF4-FFF2-40B4-BE49-F238E27FC236}">
                <a16:creationId xmlns:a16="http://schemas.microsoft.com/office/drawing/2014/main" id="{D1458F60-172B-47B9-A5AD-E9944CFAEE0E}"/>
              </a:ext>
            </a:extLst>
          </p:cNvPr>
          <p:cNvSpPr>
            <a:spLocks xmlns:a="http://schemas.openxmlformats.org/drawingml/2006/main" noGrp="1"/>
          </p:cNvSpPr>
          <p:nvPr/>
        </p:nvSpPr>
        <p:spPr>
          <a:xfrm xmlns:a="http://schemas.openxmlformats.org/drawingml/2006/main">
            <a:off x="8210550" y="4781550"/>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5F6"/>
                </a:solidFill>
                <a:latin typeface="Arial"/>
                <a:ea typeface="Arial"/>
                <a:cs typeface="Arial"/>
              </a:defRPr>
            </a:defPPr>
            <a:lvl1pPr>
              <a:defRPr sz="1875" b="0">
                <a:solidFill>
                  <a:srgbClr val="F4F5F6"/>
                </a:solidFill>
                <a:latin typeface="Arial"/>
                <a:ea typeface="Arial"/>
                <a:cs typeface="Arial"/>
              </a:defRPr>
            </a:lvl1pPr>
            <a:lvl2pPr>
              <a:defRPr sz="1875" b="0">
                <a:solidFill>
                  <a:srgbClr val="F4F5F6"/>
                </a:solidFill>
                <a:latin typeface="Arial"/>
                <a:ea typeface="Arial"/>
                <a:cs typeface="Arial"/>
              </a:defRPr>
            </a:lvl2pPr>
            <a:lvl3pPr>
              <a:defRPr sz="1875" b="0">
                <a:solidFill>
                  <a:srgbClr val="F4F5F6"/>
                </a:solidFill>
                <a:latin typeface="Arial"/>
                <a:ea typeface="Arial"/>
                <a:cs typeface="Arial"/>
              </a:defRPr>
            </a:lvl3pPr>
            <a:lvl4pPr>
              <a:defRPr sz="1875" b="0">
                <a:solidFill>
                  <a:srgbClr val="F4F5F6"/>
                </a:solidFill>
                <a:latin typeface="Arial"/>
                <a:ea typeface="Arial"/>
                <a:cs typeface="Arial"/>
              </a:defRPr>
            </a:lvl4pPr>
            <a:lvl5pPr>
              <a:defRPr sz="1875" b="0">
                <a:solidFill>
                  <a:srgbClr val="F4F5F6"/>
                </a:solidFill>
                <a:latin typeface="Arial"/>
                <a:ea typeface="Arial"/>
                <a:cs typeface="Arial"/>
              </a:defRPr>
            </a:lvl5pPr>
            <a:lvl6pPr>
              <a:defRPr sz="1875" b="0">
                <a:solidFill>
                  <a:srgbClr val="F4F5F6"/>
                </a:solidFill>
                <a:latin typeface="Arial"/>
                <a:ea typeface="Arial"/>
                <a:cs typeface="Arial"/>
              </a:defRPr>
            </a:lvl6pPr>
            <a:lvl7pPr>
              <a:defRPr sz="1875" b="0">
                <a:solidFill>
                  <a:srgbClr val="F4F5F6"/>
                </a:solidFill>
                <a:latin typeface="Arial"/>
                <a:ea typeface="Arial"/>
                <a:cs typeface="Arial"/>
              </a:defRPr>
            </a:lvl7pPr>
            <a:lvl8pPr>
              <a:defRPr sz="1875" b="0">
                <a:solidFill>
                  <a:srgbClr val="F4F5F6"/>
                </a:solidFill>
                <a:latin typeface="Arial"/>
                <a:ea typeface="Arial"/>
                <a:cs typeface="Arial"/>
              </a:defRPr>
            </a:lvl8pPr>
            <a:lvl9pPr>
              <a:defRPr sz="1875" b="0">
                <a:solidFill>
                  <a:srgbClr val="F4F5F6"/>
                </a:solidFill>
                <a:latin typeface="Arial"/>
                <a:ea typeface="Arial"/>
                <a:cs typeface="Arial"/>
              </a:defRPr>
            </a:lvl9pPr>
          </a:lstStyle>
          <a:p xmlns:a="http://schemas.openxmlformats.org/drawingml/2006/main">
            <a:pPr>
              <a:defRPr sz="1875" b="0">
                <a:solidFill>
                  <a:srgbClr val="F4F5F6"/>
                </a:solidFill>
              </a:defRPr>
            </a:pPr>
            <a:r>
              <a:rPr sz="1875" b="0">
                <a:solidFill>
                  <a:srgbClr val="F4F5F6"/>
                </a:solidFill>
                <a:latin typeface="Arial"/>
                <a:ea typeface="Arial"/>
                <a:cs typeface="Arial"/>
              </a:rPr>
              <a:t>Bootstrap provides the expand-and-collapse behaviour.</a:t>
            </a:r>
          </a:p>
        </p:txBody>
      </p:sp>
      <p:sp>
        <p:nvSpPr>
          <p:cNvPr id="8" name="source-caption">
            <a:extLst xmlns:a="http://schemas.openxmlformats.org/drawingml/2006/main">
              <a:ext uri="{FF2B5EF4-FFF2-40B4-BE49-F238E27FC236}">
                <a16:creationId xmlns:a16="http://schemas.microsoft.com/office/drawing/2014/main" id="{65CDAFEF-4749-46F5-BBFA-47AE7BB6FF0E}"/>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9C3CC"/>
                </a:solidFill>
                <a:latin typeface="Arial"/>
                <a:ea typeface="Arial"/>
                <a:cs typeface="Arial"/>
              </a:defRPr>
            </a:defPPr>
            <a:lvl1pPr>
              <a:defRPr sz="1350" b="0">
                <a:solidFill>
                  <a:srgbClr val="B9C3CC"/>
                </a:solidFill>
                <a:latin typeface="Arial"/>
                <a:ea typeface="Arial"/>
                <a:cs typeface="Arial"/>
              </a:defRPr>
            </a:lvl1pPr>
            <a:lvl2pPr>
              <a:defRPr sz="1350" b="0">
                <a:solidFill>
                  <a:srgbClr val="B9C3CC"/>
                </a:solidFill>
                <a:latin typeface="Arial"/>
                <a:ea typeface="Arial"/>
                <a:cs typeface="Arial"/>
              </a:defRPr>
            </a:lvl2pPr>
            <a:lvl3pPr>
              <a:defRPr sz="1350" b="0">
                <a:solidFill>
                  <a:srgbClr val="B9C3CC"/>
                </a:solidFill>
                <a:latin typeface="Arial"/>
                <a:ea typeface="Arial"/>
                <a:cs typeface="Arial"/>
              </a:defRPr>
            </a:lvl3pPr>
            <a:lvl4pPr>
              <a:defRPr sz="1350" b="0">
                <a:solidFill>
                  <a:srgbClr val="B9C3CC"/>
                </a:solidFill>
                <a:latin typeface="Arial"/>
                <a:ea typeface="Arial"/>
                <a:cs typeface="Arial"/>
              </a:defRPr>
            </a:lvl4pPr>
            <a:lvl5pPr>
              <a:defRPr sz="1350" b="0">
                <a:solidFill>
                  <a:srgbClr val="B9C3CC"/>
                </a:solidFill>
                <a:latin typeface="Arial"/>
                <a:ea typeface="Arial"/>
                <a:cs typeface="Arial"/>
              </a:defRPr>
            </a:lvl5pPr>
            <a:lvl6pPr>
              <a:defRPr sz="1350" b="0">
                <a:solidFill>
                  <a:srgbClr val="B9C3CC"/>
                </a:solidFill>
                <a:latin typeface="Arial"/>
                <a:ea typeface="Arial"/>
                <a:cs typeface="Arial"/>
              </a:defRPr>
            </a:lvl6pPr>
            <a:lvl7pPr>
              <a:defRPr sz="1350" b="0">
                <a:solidFill>
                  <a:srgbClr val="B9C3CC"/>
                </a:solidFill>
                <a:latin typeface="Arial"/>
                <a:ea typeface="Arial"/>
                <a:cs typeface="Arial"/>
              </a:defRPr>
            </a:lvl7pPr>
            <a:lvl8pPr>
              <a:defRPr sz="1350" b="0">
                <a:solidFill>
                  <a:srgbClr val="B9C3CC"/>
                </a:solidFill>
                <a:latin typeface="Arial"/>
                <a:ea typeface="Arial"/>
                <a:cs typeface="Arial"/>
              </a:defRPr>
            </a:lvl8pPr>
            <a:lvl9pPr>
              <a:defRPr sz="1350" b="0">
                <a:solidFill>
                  <a:srgbClr val="B9C3CC"/>
                </a:solidFill>
                <a:latin typeface="Arial"/>
                <a:ea typeface="Arial"/>
                <a:cs typeface="Arial"/>
              </a:defRPr>
            </a:lvl9pPr>
          </a:lstStyle>
          <a:p xmlns:a="http://schemas.openxmlformats.org/drawingml/2006/main">
            <a:pPr>
              <a:defRPr sz="1350" b="0">
                <a:solidFill>
                  <a:srgbClr val="B9C3CC"/>
                </a:solidFill>
              </a:defRPr>
            </a:pPr>
            <a:r>
              <a:rPr sz="1350" b="0">
                <a:solidFill>
                  <a:srgbClr val="B9C3CC"/>
                </a:solidFill>
                <a:latin typeface="Arial"/>
                <a:ea typeface="Arial"/>
                <a:cs typeface="Arial"/>
              </a:rPr>
              <a:t>Shortened excerpt from src/components/Faq.astro; styling and other attributes omitted</a:t>
            </a:r>
          </a:p>
        </p:txBody>
      </p:sp>
      <p:sp>
        <p:nvSpPr>
          <p:cNvPr id="9" name="page">
            <a:extLst xmlns:a="http://schemas.openxmlformats.org/drawingml/2006/main">
              <a:ext uri="{FF2B5EF4-FFF2-40B4-BE49-F238E27FC236}">
                <a16:creationId xmlns:a16="http://schemas.microsoft.com/office/drawing/2014/main" id="{8DA3640A-31B5-4E5C-B63E-13216D5A7372}"/>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25</a:t>
            </a:r>
          </a:p>
        </p:txBody>
      </p:sp>
    </p:spTree>
    <p:extLst>
      <p:ext uri="{BB962C8B-B14F-4D97-AF65-F5344CB8AC3E}">
        <p14:creationId xmlns:p14="http://schemas.microsoft.com/office/powerpoint/2010/main" val="2049883076"/>
      </p:ext>
    </p:extLst>
  </p:cSld>
</p:sld>
</file>

<file path=ppt/slides/slide26.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5E11669-4E56-4B1E-A632-D9D3F6C438A8}"/>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A small investigation</a:t>
            </a:r>
          </a:p>
        </p:txBody>
      </p:sp>
      <p:sp>
        <p:nvSpPr>
          <p:cNvPr id="3" name="point-0">
            <a:extLst xmlns:a="http://schemas.openxmlformats.org/drawingml/2006/main">
              <a:ext uri="{FF2B5EF4-FFF2-40B4-BE49-F238E27FC236}">
                <a16:creationId xmlns:a16="http://schemas.microsoft.com/office/drawing/2014/main" id="{32C7557E-3BE2-4EB0-AD80-369A6F348F2E}"/>
              </a:ext>
            </a:extLst>
          </p:cNvPr>
          <p:cNvSpPr>
            <a:spLocks xmlns:a="http://schemas.openxmlformats.org/drawingml/2006/main" noGrp="1"/>
          </p:cNvSpPr>
          <p:nvPr/>
        </p:nvSpPr>
        <p:spPr>
          <a:xfrm xmlns:a="http://schemas.openxmlformats.org/drawingml/2006/main">
            <a:off x="685800" y="17621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Wrong words? Find the exact phrase in the source.</a:t>
            </a:r>
          </a:p>
        </p:txBody>
      </p:sp>
      <p:sp>
        <p:nvSpPr>
          <p:cNvPr id="4" name="point-1">
            <a:extLst xmlns:a="http://schemas.openxmlformats.org/drawingml/2006/main">
              <a:ext uri="{FF2B5EF4-FFF2-40B4-BE49-F238E27FC236}">
                <a16:creationId xmlns:a16="http://schemas.microsoft.com/office/drawing/2014/main" id="{AD231FD8-FFEF-424B-A31E-F15C038F7561}"/>
              </a:ext>
            </a:extLst>
          </p:cNvPr>
          <p:cNvSpPr>
            <a:spLocks xmlns:a="http://schemas.openxmlformats.org/drawingml/2006/main" noGrp="1"/>
          </p:cNvSpPr>
          <p:nvPr/>
        </p:nvSpPr>
        <p:spPr>
          <a:xfrm xmlns:a="http://schemas.openxmlformats.org/drawingml/2006/main">
            <a:off x="685800" y="2552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Missing image? Compare its path with the real filename.</a:t>
            </a:r>
          </a:p>
        </p:txBody>
      </p:sp>
      <p:sp>
        <p:nvSpPr>
          <p:cNvPr id="5" name="point-2">
            <a:extLst xmlns:a="http://schemas.openxmlformats.org/drawingml/2006/main">
              <a:ext uri="{FF2B5EF4-FFF2-40B4-BE49-F238E27FC236}">
                <a16:creationId xmlns:a16="http://schemas.microsoft.com/office/drawing/2014/main" id="{B2DF6C48-7CB1-4677-8353-C0BFEAA1B4D0}"/>
              </a:ext>
            </a:extLst>
          </p:cNvPr>
          <p:cNvSpPr>
            <a:spLocks xmlns:a="http://schemas.openxmlformats.org/drawingml/2006/main" noGrp="1"/>
          </p:cNvSpPr>
          <p:nvPr/>
        </p:nvSpPr>
        <p:spPr>
          <a:xfrm xmlns:a="http://schemas.openxmlformats.org/drawingml/2006/main">
            <a:off x="685800" y="33432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Wrong link? Check href or the relevant JSON URL.</a:t>
            </a:r>
          </a:p>
        </p:txBody>
      </p:sp>
      <p:sp>
        <p:nvSpPr>
          <p:cNvPr id="6" name="point-3">
            <a:extLst xmlns:a="http://schemas.openxmlformats.org/drawingml/2006/main">
              <a:ext uri="{FF2B5EF4-FFF2-40B4-BE49-F238E27FC236}">
                <a16:creationId xmlns:a16="http://schemas.microsoft.com/office/drawing/2014/main" id="{65803901-6E2B-43A5-9E55-2EF64438DCDB}"/>
              </a:ext>
            </a:extLst>
          </p:cNvPr>
          <p:cNvSpPr>
            <a:spLocks xmlns:a="http://schemas.openxmlformats.org/drawingml/2006/main" noGrp="1"/>
          </p:cNvSpPr>
          <p:nvPr/>
        </p:nvSpPr>
        <p:spPr>
          <a:xfrm xmlns:a="http://schemas.openxmlformats.org/drawingml/2006/main">
            <a:off x="685800" y="4133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 control does nothing? Check its ID and target, then the browser console.</a:t>
            </a:r>
          </a:p>
        </p:txBody>
      </p:sp>
      <p:sp>
        <p:nvSpPr>
          <p:cNvPr id="7" name="point-4">
            <a:extLst xmlns:a="http://schemas.openxmlformats.org/drawingml/2006/main">
              <a:ext uri="{FF2B5EF4-FFF2-40B4-BE49-F238E27FC236}">
                <a16:creationId xmlns:a16="http://schemas.microsoft.com/office/drawing/2014/main" id="{58DA2A9B-FAD6-4D09-AE0E-B40A80934BDA}"/>
              </a:ext>
            </a:extLst>
          </p:cNvPr>
          <p:cNvSpPr>
            <a:spLocks xmlns:a="http://schemas.openxmlformats.org/drawingml/2006/main" noGrp="1"/>
          </p:cNvSpPr>
          <p:nvPr/>
        </p:nvSpPr>
        <p:spPr>
          <a:xfrm xmlns:a="http://schemas.openxmlformats.org/drawingml/2006/main">
            <a:off x="685800" y="49244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After a change, check the affected area at wide and narrow widths.</a:t>
            </a:r>
          </a:p>
        </p:txBody>
      </p:sp>
      <p:sp>
        <p:nvSpPr>
          <p:cNvPr id="8" name="page">
            <a:extLst xmlns:a="http://schemas.openxmlformats.org/drawingml/2006/main">
              <a:ext uri="{FF2B5EF4-FFF2-40B4-BE49-F238E27FC236}">
                <a16:creationId xmlns:a16="http://schemas.microsoft.com/office/drawing/2014/main" id="{293C03FA-BFF8-4465-8E59-22057467EC60}"/>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26</a:t>
            </a:r>
          </a:p>
        </p:txBody>
      </p:sp>
    </p:spTree>
    <p:extLst>
      <p:ext uri="{BB962C8B-B14F-4D97-AF65-F5344CB8AC3E}">
        <p14:creationId xmlns:p14="http://schemas.microsoft.com/office/powerpoint/2010/main" val="127468013"/>
      </p:ext>
    </p:extLst>
  </p:cSld>
</p:sld>
</file>

<file path=ppt/slides/slide27.xml><?xml version="1.0" encoding="utf-8"?>
<p:sld xmlns:p="http://schemas.openxmlformats.org/presentationml/2006/main">
  <p:cSld>
    <p:bg>
      <p:bgPr>
        <a:solidFill xmlns:a="http://schemas.openxmlformats.org/drawingml/2006/main">
          <a:srgbClr val="171D2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BDF07B6-9100-4C3D-B38B-1FD362E97BF2}"/>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C107"/>
                </a:solidFill>
                <a:latin typeface="Arial"/>
                <a:ea typeface="Arial"/>
                <a:cs typeface="Arial"/>
              </a:defRPr>
            </a:defPPr>
            <a:lvl1pPr>
              <a:defRPr sz="3300" b="1">
                <a:solidFill>
                  <a:srgbClr val="FFC107"/>
                </a:solidFill>
                <a:latin typeface="Arial"/>
                <a:ea typeface="Arial"/>
                <a:cs typeface="Arial"/>
              </a:defRPr>
            </a:lvl1pPr>
            <a:lvl2pPr>
              <a:defRPr sz="3300" b="1">
                <a:solidFill>
                  <a:srgbClr val="FFC107"/>
                </a:solidFill>
                <a:latin typeface="Arial"/>
                <a:ea typeface="Arial"/>
                <a:cs typeface="Arial"/>
              </a:defRPr>
            </a:lvl2pPr>
            <a:lvl3pPr>
              <a:defRPr sz="3300" b="1">
                <a:solidFill>
                  <a:srgbClr val="FFC107"/>
                </a:solidFill>
                <a:latin typeface="Arial"/>
                <a:ea typeface="Arial"/>
                <a:cs typeface="Arial"/>
              </a:defRPr>
            </a:lvl3pPr>
            <a:lvl4pPr>
              <a:defRPr sz="3300" b="1">
                <a:solidFill>
                  <a:srgbClr val="FFC107"/>
                </a:solidFill>
                <a:latin typeface="Arial"/>
                <a:ea typeface="Arial"/>
                <a:cs typeface="Arial"/>
              </a:defRPr>
            </a:lvl4pPr>
            <a:lvl5pPr>
              <a:defRPr sz="3300" b="1">
                <a:solidFill>
                  <a:srgbClr val="FFC107"/>
                </a:solidFill>
                <a:latin typeface="Arial"/>
                <a:ea typeface="Arial"/>
                <a:cs typeface="Arial"/>
              </a:defRPr>
            </a:lvl5pPr>
            <a:lvl6pPr>
              <a:defRPr sz="3300" b="1">
                <a:solidFill>
                  <a:srgbClr val="FFC107"/>
                </a:solidFill>
                <a:latin typeface="Arial"/>
                <a:ea typeface="Arial"/>
                <a:cs typeface="Arial"/>
              </a:defRPr>
            </a:lvl6pPr>
            <a:lvl7pPr>
              <a:defRPr sz="3300" b="1">
                <a:solidFill>
                  <a:srgbClr val="FFC107"/>
                </a:solidFill>
                <a:latin typeface="Arial"/>
                <a:ea typeface="Arial"/>
                <a:cs typeface="Arial"/>
              </a:defRPr>
            </a:lvl7pPr>
            <a:lvl8pPr>
              <a:defRPr sz="3300" b="1">
                <a:solidFill>
                  <a:srgbClr val="FFC107"/>
                </a:solidFill>
                <a:latin typeface="Arial"/>
                <a:ea typeface="Arial"/>
                <a:cs typeface="Arial"/>
              </a:defRPr>
            </a:lvl8pPr>
            <a:lvl9pPr>
              <a:defRPr sz="3300" b="1">
                <a:solidFill>
                  <a:srgbClr val="FFC107"/>
                </a:solidFill>
                <a:latin typeface="Arial"/>
                <a:ea typeface="Arial"/>
                <a:cs typeface="Arial"/>
              </a:defRPr>
            </a:lvl9pPr>
          </a:lstStyle>
          <a:p xmlns:a="http://schemas.openxmlformats.org/drawingml/2006/main">
            <a:pPr>
              <a:defRPr sz="3300" b="1">
                <a:solidFill>
                  <a:srgbClr val="FFC107"/>
                </a:solidFill>
              </a:defRPr>
            </a:pPr>
            <a:r>
              <a:rPr sz="3300" b="1">
                <a:solidFill>
                  <a:srgbClr val="FFC107"/>
                </a:solidFill>
                <a:latin typeface="Arial"/>
                <a:ea typeface="Arial"/>
                <a:cs typeface="Arial"/>
              </a:rPr>
              <a:t>The file choices to remember</a:t>
            </a:r>
          </a:p>
        </p:txBody>
      </p:sp>
      <p:sp>
        <p:nvSpPr>
          <p:cNvPr id="3" name="point-0">
            <a:extLst xmlns:a="http://schemas.openxmlformats.org/drawingml/2006/main">
              <a:ext uri="{FF2B5EF4-FFF2-40B4-BE49-F238E27FC236}">
                <a16:creationId xmlns:a16="http://schemas.microsoft.com/office/drawing/2014/main" id="{F259B7FD-FF01-4433-A55D-F7FBEDB7B266}"/>
              </a:ext>
            </a:extLst>
          </p:cNvPr>
          <p:cNvSpPr>
            <a:spLocks xmlns:a="http://schemas.openxmlformats.org/drawingml/2006/main" noGrp="1"/>
          </p:cNvSpPr>
          <p:nvPr/>
        </p:nvSpPr>
        <p:spPr>
          <a:xfrm xmlns:a="http://schemas.openxmlformats.org/drawingml/2006/main">
            <a:off x="685800" y="17621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Words in a section: src/components/</a:t>
            </a:r>
          </a:p>
        </p:txBody>
      </p:sp>
      <p:sp>
        <p:nvSpPr>
          <p:cNvPr id="4" name="point-1">
            <a:extLst xmlns:a="http://schemas.openxmlformats.org/drawingml/2006/main">
              <a:ext uri="{FF2B5EF4-FFF2-40B4-BE49-F238E27FC236}">
                <a16:creationId xmlns:a16="http://schemas.microsoft.com/office/drawing/2014/main" id="{45FE1011-32F1-4E59-914F-BB0269ED3843}"/>
              </a:ext>
            </a:extLst>
          </p:cNvPr>
          <p:cNvSpPr>
            <a:spLocks xmlns:a="http://schemas.openxmlformats.org/drawingml/2006/main" noGrp="1"/>
          </p:cNvSpPr>
          <p:nvPr/>
        </p:nvSpPr>
        <p:spPr>
          <a:xfrm xmlns:a="http://schemas.openxmlformats.org/drawingml/2006/main">
            <a:off x="685800" y="24574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Longer ride details: public/data/longer-rides.json</a:t>
            </a:r>
          </a:p>
        </p:txBody>
      </p:sp>
      <p:sp>
        <p:nvSpPr>
          <p:cNvPr id="5" name="point-2">
            <a:extLst xmlns:a="http://schemas.openxmlformats.org/drawingml/2006/main">
              <a:ext uri="{FF2B5EF4-FFF2-40B4-BE49-F238E27FC236}">
                <a16:creationId xmlns:a16="http://schemas.microsoft.com/office/drawing/2014/main" id="{2F837A0F-ACE4-4CA9-B7BD-A0586E1F17E4}"/>
              </a:ext>
            </a:extLst>
          </p:cNvPr>
          <p:cNvSpPr>
            <a:spLocks xmlns:a="http://schemas.openxmlformats.org/drawingml/2006/main" noGrp="1"/>
          </p:cNvSpPr>
          <p:nvPr/>
        </p:nvSpPr>
        <p:spPr>
          <a:xfrm xmlns:a="http://schemas.openxmlformats.org/drawingml/2006/main">
            <a:off x="685800" y="31527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Photo menu links: public/data/photos.json</a:t>
            </a:r>
          </a:p>
        </p:txBody>
      </p:sp>
      <p:sp>
        <p:nvSpPr>
          <p:cNvPr id="6" name="point-3">
            <a:extLst xmlns:a="http://schemas.openxmlformats.org/drawingml/2006/main">
              <a:ext uri="{FF2B5EF4-FFF2-40B4-BE49-F238E27FC236}">
                <a16:creationId xmlns:a16="http://schemas.microsoft.com/office/drawing/2014/main" id="{46175C6C-1C3A-4F65-9C13-ED95FEF5BF6D}"/>
              </a:ext>
            </a:extLst>
          </p:cNvPr>
          <p:cNvSpPr>
            <a:spLocks xmlns:a="http://schemas.openxmlformats.org/drawingml/2006/main" noGrp="1"/>
          </p:cNvSpPr>
          <p:nvPr/>
        </p:nvSpPr>
        <p:spPr>
          <a:xfrm xmlns:a="http://schemas.openxmlformats.org/drawingml/2006/main">
            <a:off x="685800" y="38481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Appearance: src/scss/ or a component’s &lt;style&gt; block</a:t>
            </a:r>
          </a:p>
        </p:txBody>
      </p:sp>
      <p:sp>
        <p:nvSpPr>
          <p:cNvPr id="7" name="point-4">
            <a:extLst xmlns:a="http://schemas.openxmlformats.org/drawingml/2006/main">
              <a:ext uri="{FF2B5EF4-FFF2-40B4-BE49-F238E27FC236}">
                <a16:creationId xmlns:a16="http://schemas.microsoft.com/office/drawing/2014/main" id="{53FD6CE3-2C18-44C3-B4E7-C0FFDC4C9DFF}"/>
              </a:ext>
            </a:extLst>
          </p:cNvPr>
          <p:cNvSpPr>
            <a:spLocks xmlns:a="http://schemas.openxmlformats.org/drawingml/2006/main" noGrp="1"/>
          </p:cNvSpPr>
          <p:nvPr/>
        </p:nvSpPr>
        <p:spPr>
          <a:xfrm xmlns:a="http://schemas.openxmlformats.org/drawingml/2006/main">
            <a:off x="685800" y="45434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5F6"/>
                </a:solidFill>
                <a:latin typeface="Arial"/>
                <a:ea typeface="Arial"/>
                <a:cs typeface="Arial"/>
              </a:defRPr>
            </a:defPPr>
            <a:lvl1pPr>
              <a:defRPr sz="2175" b="0">
                <a:solidFill>
                  <a:srgbClr val="F4F5F6"/>
                </a:solidFill>
                <a:latin typeface="Arial"/>
                <a:ea typeface="Arial"/>
                <a:cs typeface="Arial"/>
              </a:defRPr>
            </a:lvl1pPr>
            <a:lvl2pPr>
              <a:defRPr sz="2175" b="0">
                <a:solidFill>
                  <a:srgbClr val="F4F5F6"/>
                </a:solidFill>
                <a:latin typeface="Arial"/>
                <a:ea typeface="Arial"/>
                <a:cs typeface="Arial"/>
              </a:defRPr>
            </a:lvl2pPr>
            <a:lvl3pPr>
              <a:defRPr sz="2175" b="0">
                <a:solidFill>
                  <a:srgbClr val="F4F5F6"/>
                </a:solidFill>
                <a:latin typeface="Arial"/>
                <a:ea typeface="Arial"/>
                <a:cs typeface="Arial"/>
              </a:defRPr>
            </a:lvl3pPr>
            <a:lvl4pPr>
              <a:defRPr sz="2175" b="0">
                <a:solidFill>
                  <a:srgbClr val="F4F5F6"/>
                </a:solidFill>
                <a:latin typeface="Arial"/>
                <a:ea typeface="Arial"/>
                <a:cs typeface="Arial"/>
              </a:defRPr>
            </a:lvl4pPr>
            <a:lvl5pPr>
              <a:defRPr sz="2175" b="0">
                <a:solidFill>
                  <a:srgbClr val="F4F5F6"/>
                </a:solidFill>
                <a:latin typeface="Arial"/>
                <a:ea typeface="Arial"/>
                <a:cs typeface="Arial"/>
              </a:defRPr>
            </a:lvl5pPr>
            <a:lvl6pPr>
              <a:defRPr sz="2175" b="0">
                <a:solidFill>
                  <a:srgbClr val="F4F5F6"/>
                </a:solidFill>
                <a:latin typeface="Arial"/>
                <a:ea typeface="Arial"/>
                <a:cs typeface="Arial"/>
              </a:defRPr>
            </a:lvl6pPr>
            <a:lvl7pPr>
              <a:defRPr sz="2175" b="0">
                <a:solidFill>
                  <a:srgbClr val="F4F5F6"/>
                </a:solidFill>
                <a:latin typeface="Arial"/>
                <a:ea typeface="Arial"/>
                <a:cs typeface="Arial"/>
              </a:defRPr>
            </a:lvl7pPr>
            <a:lvl8pPr>
              <a:defRPr sz="2175" b="0">
                <a:solidFill>
                  <a:srgbClr val="F4F5F6"/>
                </a:solidFill>
                <a:latin typeface="Arial"/>
                <a:ea typeface="Arial"/>
                <a:cs typeface="Arial"/>
              </a:defRPr>
            </a:lvl8pPr>
            <a:lvl9pPr>
              <a:defRPr sz="2175" b="0">
                <a:solidFill>
                  <a:srgbClr val="F4F5F6"/>
                </a:solidFill>
                <a:latin typeface="Arial"/>
                <a:ea typeface="Arial"/>
                <a:cs typeface="Arial"/>
              </a:defRPr>
            </a:lvl9pPr>
          </a:lstStyle>
          <a:p xmlns:a="http://schemas.openxmlformats.org/drawingml/2006/main">
            <a:pPr>
              <a:defRPr sz="2175" b="0">
                <a:solidFill>
                  <a:srgbClr val="F4F5F6"/>
                </a:solidFill>
              </a:defRPr>
            </a:pPr>
            <a:r>
              <a:rPr sz="2175" b="0">
                <a:solidFill>
                  <a:srgbClr val="F4F5F6"/>
                </a:solidFill>
                <a:latin typeface="Arial"/>
                <a:ea typeface="Arial"/>
                <a:cs typeface="Arial"/>
              </a:rPr>
              <a:t>Clicks and changing content: src/js/, src/scripts/ and helpers in src/lib/</a:t>
            </a:r>
          </a:p>
        </p:txBody>
      </p:sp>
      <p:sp>
        <p:nvSpPr>
          <p:cNvPr id="8" name="page">
            <a:extLst xmlns:a="http://schemas.openxmlformats.org/drawingml/2006/main">
              <a:ext uri="{FF2B5EF4-FFF2-40B4-BE49-F238E27FC236}">
                <a16:creationId xmlns:a16="http://schemas.microsoft.com/office/drawing/2014/main" id="{C84E1D8B-187C-434D-B845-6FCB9F40D55E}"/>
              </a:ext>
            </a:extLst>
          </p:cNvPr>
          <p:cNvSpPr>
            <a:spLocks xmlns:a="http://schemas.openxmlformats.org/drawingml/2006/main" noGrp="1"/>
          </p:cNvSpPr>
          <p:nvPr/>
        </p:nvSpPr>
        <p:spPr>
          <a:xfrm xmlns:a="http://schemas.openxmlformats.org/drawingml/2006/main">
            <a:off x="10858500" y="639127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9C3CC"/>
                </a:solidFill>
                <a:latin typeface="Arial"/>
                <a:ea typeface="Arial"/>
                <a:cs typeface="Arial"/>
              </a:defRPr>
            </a:defPPr>
            <a:lvl1pPr>
              <a:defRPr sz="1275" b="0">
                <a:solidFill>
                  <a:srgbClr val="B9C3CC"/>
                </a:solidFill>
                <a:latin typeface="Arial"/>
                <a:ea typeface="Arial"/>
                <a:cs typeface="Arial"/>
              </a:defRPr>
            </a:lvl1pPr>
            <a:lvl2pPr>
              <a:defRPr sz="1275" b="0">
                <a:solidFill>
                  <a:srgbClr val="B9C3CC"/>
                </a:solidFill>
                <a:latin typeface="Arial"/>
                <a:ea typeface="Arial"/>
                <a:cs typeface="Arial"/>
              </a:defRPr>
            </a:lvl2pPr>
            <a:lvl3pPr>
              <a:defRPr sz="1275" b="0">
                <a:solidFill>
                  <a:srgbClr val="B9C3CC"/>
                </a:solidFill>
                <a:latin typeface="Arial"/>
                <a:ea typeface="Arial"/>
                <a:cs typeface="Arial"/>
              </a:defRPr>
            </a:lvl3pPr>
            <a:lvl4pPr>
              <a:defRPr sz="1275" b="0">
                <a:solidFill>
                  <a:srgbClr val="B9C3CC"/>
                </a:solidFill>
                <a:latin typeface="Arial"/>
                <a:ea typeface="Arial"/>
                <a:cs typeface="Arial"/>
              </a:defRPr>
            </a:lvl4pPr>
            <a:lvl5pPr>
              <a:defRPr sz="1275" b="0">
                <a:solidFill>
                  <a:srgbClr val="B9C3CC"/>
                </a:solidFill>
                <a:latin typeface="Arial"/>
                <a:ea typeface="Arial"/>
                <a:cs typeface="Arial"/>
              </a:defRPr>
            </a:lvl5pPr>
            <a:lvl6pPr>
              <a:defRPr sz="1275" b="0">
                <a:solidFill>
                  <a:srgbClr val="B9C3CC"/>
                </a:solidFill>
                <a:latin typeface="Arial"/>
                <a:ea typeface="Arial"/>
                <a:cs typeface="Arial"/>
              </a:defRPr>
            </a:lvl6pPr>
            <a:lvl7pPr>
              <a:defRPr sz="1275" b="0">
                <a:solidFill>
                  <a:srgbClr val="B9C3CC"/>
                </a:solidFill>
                <a:latin typeface="Arial"/>
                <a:ea typeface="Arial"/>
                <a:cs typeface="Arial"/>
              </a:defRPr>
            </a:lvl7pPr>
            <a:lvl8pPr>
              <a:defRPr sz="1275" b="0">
                <a:solidFill>
                  <a:srgbClr val="B9C3CC"/>
                </a:solidFill>
                <a:latin typeface="Arial"/>
                <a:ea typeface="Arial"/>
                <a:cs typeface="Arial"/>
              </a:defRPr>
            </a:lvl8pPr>
            <a:lvl9pPr>
              <a:defRPr sz="1275" b="0">
                <a:solidFill>
                  <a:srgbClr val="B9C3CC"/>
                </a:solidFill>
                <a:latin typeface="Arial"/>
                <a:ea typeface="Arial"/>
                <a:cs typeface="Arial"/>
              </a:defRPr>
            </a:lvl9pPr>
          </a:lstStyle>
          <a:p xmlns:a="http://schemas.openxmlformats.org/drawingml/2006/main">
            <a:pPr>
              <a:defRPr sz="1275" b="0">
                <a:solidFill>
                  <a:srgbClr val="B9C3CC"/>
                </a:solidFill>
              </a:defRPr>
            </a:pPr>
            <a:r>
              <a:rPr sz="1275" b="0">
                <a:solidFill>
                  <a:srgbClr val="B9C3CC"/>
                </a:solidFill>
                <a:latin typeface="Arial"/>
                <a:ea typeface="Arial"/>
                <a:cs typeface="Arial"/>
              </a:rPr>
              <a:t>27</a:t>
            </a:r>
          </a:p>
        </p:txBody>
      </p:sp>
    </p:spTree>
    <p:extLst>
      <p:ext uri="{BB962C8B-B14F-4D97-AF65-F5344CB8AC3E}">
        <p14:creationId xmlns:p14="http://schemas.microsoft.com/office/powerpoint/2010/main" val="1541756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2026-10-21T07:01:38.2370000Z</dcterms:created>
  <dcterms:modified xsi:type="dcterms:W3CDTF">2026-10-21T07:01:38.2370000Z</dcterms:modified>
</coreProperties>
</file>